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notesMasterIdLst>
    <p:notesMasterId r:id="rId10"/>
  </p:notesMasterIdLst>
  <p:sldIdLst>
    <p:sldId id="437" r:id="rId2"/>
    <p:sldId id="529" r:id="rId3"/>
    <p:sldId id="527" r:id="rId4"/>
    <p:sldId id="530" r:id="rId5"/>
    <p:sldId id="531" r:id="rId6"/>
    <p:sldId id="523" r:id="rId7"/>
    <p:sldId id="524" r:id="rId8"/>
    <p:sldId id="526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293E"/>
    <a:srgbClr val="AFABAB"/>
    <a:srgbClr val="3B4E59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1" d="100"/>
          <a:sy n="61" d="100"/>
        </p:scale>
        <p:origin x="217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7A900-82DF-4359-90DC-8F9F1FA3F2E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427ED7-EA88-4901-AB80-F1FE98312F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8757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99FC9-3694-4CC6-A287-4736D44EADD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1759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baseline="0" dirty="0"/>
              <a:t>도메인이 학습 영역과 상이하기 때문에 입자와 경계간의 상호작용을 좀 더 효과적으로 모델링할 필요가 있습니다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저희는 크게 </a:t>
            </a:r>
            <a:r>
              <a:rPr lang="en-US" altLang="ko-KR" baseline="0" dirty="0"/>
              <a:t>3</a:t>
            </a:r>
            <a:r>
              <a:rPr lang="ko-KR" altLang="en-US" baseline="0" dirty="0"/>
              <a:t>가지 방법을 사용해서 입자와 경계간의 상호작용을 모델링하였습니다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endParaRPr lang="en-US" altLang="ko-KR" baseline="0" dirty="0"/>
          </a:p>
          <a:p>
            <a:pPr marL="0" indent="0">
              <a:buFontTx/>
              <a:buNone/>
            </a:pPr>
            <a:r>
              <a:rPr lang="ko-KR" altLang="en-US" baseline="0" dirty="0"/>
              <a:t>먼저 </a:t>
            </a:r>
            <a:r>
              <a:rPr lang="en-US" altLang="ko-KR" baseline="0" dirty="0"/>
              <a:t>Boundary Graph neural networks</a:t>
            </a:r>
            <a:r>
              <a:rPr lang="ko-KR" altLang="en-US" baseline="0" dirty="0"/>
              <a:t>라는 논문에서 사용된 방법입니다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기존의 </a:t>
            </a:r>
            <a:r>
              <a:rPr lang="en-US" altLang="ko-KR" baseline="0" dirty="0"/>
              <a:t>GNN</a:t>
            </a:r>
            <a:r>
              <a:rPr lang="ko-KR" altLang="en-US" baseline="0" dirty="0"/>
              <a:t>은 경계 노드들을 전부 하나의 입자라고 판단하고 일정 거리내에 있는 노드들은 전부 입자와 연결하였습니다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우측 그림에서 보시면 </a:t>
            </a:r>
            <a:r>
              <a:rPr lang="en-US" altLang="ko-KR" baseline="0" dirty="0"/>
              <a:t>P </a:t>
            </a:r>
            <a:r>
              <a:rPr lang="en-US" altLang="ko-KR" baseline="0" dirty="0" err="1"/>
              <a:t>i</a:t>
            </a:r>
            <a:r>
              <a:rPr lang="ko-KR" altLang="en-US" baseline="0" dirty="0"/>
              <a:t>와 </a:t>
            </a:r>
            <a:r>
              <a:rPr lang="en-US" altLang="ko-KR" baseline="0" dirty="0"/>
              <a:t>W 1, W 2, W 3</a:t>
            </a:r>
            <a:r>
              <a:rPr lang="ko-KR" altLang="en-US" baseline="0" dirty="0"/>
              <a:t>를 전부 </a:t>
            </a:r>
            <a:r>
              <a:rPr lang="ko-KR" altLang="en-US" baseline="0" dirty="0" err="1"/>
              <a:t>연결한거죠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하지만 이렇게 모든 노드들을 연결할 경우 불필요한 </a:t>
            </a:r>
            <a:r>
              <a:rPr lang="ko-KR" altLang="en-US" baseline="0" dirty="0" err="1"/>
              <a:t>엣지들이</a:t>
            </a:r>
            <a:r>
              <a:rPr lang="ko-KR" altLang="en-US" baseline="0" dirty="0"/>
              <a:t> 너무 많이 생성되기 때문에 그래프의 사이즈가 커지고 이는 학습 속도와 예측 속도를 낮추는 문제가 됩니다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뿐만 아니라</a:t>
            </a:r>
            <a:r>
              <a:rPr lang="en-US" altLang="ko-KR" baseline="0" dirty="0"/>
              <a:t>, </a:t>
            </a:r>
            <a:r>
              <a:rPr lang="ko-KR" altLang="en-US" baseline="0" dirty="0"/>
              <a:t>불필요한 정보들이 입자에 너무 많이 들어오기 입력되기 때문에 예측 정확도 역시 떨어지는 문제점이 있습니다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따라서</a:t>
            </a:r>
            <a:r>
              <a:rPr lang="en-US" altLang="ko-KR" baseline="0" dirty="0"/>
              <a:t>, </a:t>
            </a:r>
            <a:r>
              <a:rPr lang="ko-KR" altLang="en-US" baseline="0" dirty="0"/>
              <a:t>모든 </a:t>
            </a:r>
            <a:r>
              <a:rPr lang="ko-KR" altLang="en-US" baseline="0" dirty="0" err="1"/>
              <a:t>메쉬의</a:t>
            </a:r>
            <a:r>
              <a:rPr lang="ko-KR" altLang="en-US" baseline="0" dirty="0"/>
              <a:t> 노드들을 입자와 연결하는 것이 아니라 </a:t>
            </a:r>
            <a:r>
              <a:rPr lang="ko-KR" altLang="en-US" baseline="0" dirty="0" err="1"/>
              <a:t>메쉬와</a:t>
            </a:r>
            <a:r>
              <a:rPr lang="ko-KR" altLang="en-US" baseline="0" dirty="0"/>
              <a:t> 입자와의 거리를 계산하고 </a:t>
            </a:r>
            <a:r>
              <a:rPr lang="ko-KR" altLang="en-US" baseline="0" dirty="0" err="1"/>
              <a:t>메쉬와</a:t>
            </a:r>
            <a:r>
              <a:rPr lang="ko-KR" altLang="en-US" baseline="0" dirty="0"/>
              <a:t> 입자 간의 최소 거리를 가지는 가상 점 </a:t>
            </a:r>
            <a:r>
              <a:rPr lang="en-US" altLang="ko-KR" baseline="0" dirty="0"/>
              <a:t>W </a:t>
            </a:r>
            <a:r>
              <a:rPr lang="en-US" altLang="ko-KR" baseline="0" dirty="0" err="1"/>
              <a:t>i</a:t>
            </a:r>
            <a:r>
              <a:rPr lang="ko-KR" altLang="en-US" baseline="0" dirty="0" err="1"/>
              <a:t>를</a:t>
            </a:r>
            <a:r>
              <a:rPr lang="ko-KR" altLang="en-US" baseline="0" dirty="0"/>
              <a:t> 생성하여 이 </a:t>
            </a:r>
            <a:r>
              <a:rPr lang="en-US" altLang="ko-KR" baseline="0" dirty="0"/>
              <a:t>W </a:t>
            </a:r>
            <a:r>
              <a:rPr lang="en-US" altLang="ko-KR" baseline="0" dirty="0" err="1"/>
              <a:t>i</a:t>
            </a:r>
            <a:r>
              <a:rPr lang="ko-KR" altLang="en-US" baseline="0" dirty="0"/>
              <a:t>와 </a:t>
            </a:r>
            <a:r>
              <a:rPr lang="en-US" altLang="ko-KR" baseline="0" dirty="0"/>
              <a:t>P I </a:t>
            </a:r>
            <a:r>
              <a:rPr lang="ko-KR" altLang="en-US" baseline="0" dirty="0"/>
              <a:t>사이의 </a:t>
            </a:r>
            <a:r>
              <a:rPr lang="ko-KR" altLang="en-US" baseline="0" dirty="0" err="1"/>
              <a:t>엣지</a:t>
            </a:r>
            <a:r>
              <a:rPr lang="ko-KR" altLang="en-US" baseline="0" dirty="0"/>
              <a:t> 하나만을 연결하는 방식으로 그래프를 간소화하고 예측 정확도를 올렸습니다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endParaRPr lang="en-US" altLang="ko-KR" baseline="0" dirty="0"/>
          </a:p>
          <a:p>
            <a:pPr marL="0" indent="0">
              <a:buFontTx/>
              <a:buNone/>
            </a:pPr>
            <a:r>
              <a:rPr lang="ko-KR" altLang="en-US" baseline="0" dirty="0"/>
              <a:t>다음으로 장비 단위로 </a:t>
            </a:r>
            <a:r>
              <a:rPr lang="ko-KR" altLang="en-US" baseline="0" dirty="0" err="1"/>
              <a:t>메쉬를</a:t>
            </a:r>
            <a:r>
              <a:rPr lang="ko-KR" altLang="en-US" baseline="0" dirty="0"/>
              <a:t> 분할하여 입자 경계 </a:t>
            </a:r>
            <a:r>
              <a:rPr lang="ko-KR" altLang="en-US" baseline="0" dirty="0" err="1"/>
              <a:t>엣지를</a:t>
            </a:r>
            <a:r>
              <a:rPr lang="ko-KR" altLang="en-US" baseline="0" dirty="0"/>
              <a:t> 연결하였습니다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전체 장비에 대해서 입자와 가장 가까운 </a:t>
            </a:r>
            <a:r>
              <a:rPr lang="en-US" altLang="ko-KR" baseline="0" dirty="0"/>
              <a:t>k</a:t>
            </a:r>
            <a:r>
              <a:rPr lang="ko-KR" altLang="en-US" baseline="0" dirty="0"/>
              <a:t>개의 </a:t>
            </a:r>
            <a:r>
              <a:rPr lang="ko-KR" altLang="en-US" baseline="0" dirty="0" err="1"/>
              <a:t>엣지를</a:t>
            </a:r>
            <a:r>
              <a:rPr lang="ko-KR" altLang="en-US" baseline="0" dirty="0"/>
              <a:t> 연결할 경우 여러 공정 장비에 대한 상호작용을 동시에 하지 못하고 특정 장비에 대해서만 입자가 정보를 받아올 수 있는 문제점이 있습니다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따라서 전체 장비가 아닌 각 장비별로 일정 개수 만큼의 </a:t>
            </a:r>
            <a:r>
              <a:rPr lang="ko-KR" altLang="en-US" baseline="0" dirty="0" err="1"/>
              <a:t>엣지를</a:t>
            </a:r>
            <a:r>
              <a:rPr lang="ko-KR" altLang="en-US" baseline="0" dirty="0"/>
              <a:t> 연결하였습니다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현재 예측하려고 하는 도메인의 경우 </a:t>
            </a:r>
            <a:r>
              <a:rPr lang="ko-KR" altLang="en-US" baseline="0" dirty="0" err="1"/>
              <a:t>호퍼와</a:t>
            </a:r>
            <a:r>
              <a:rPr lang="ko-KR" altLang="en-US" baseline="0" dirty="0"/>
              <a:t> 롤러 </a:t>
            </a:r>
            <a:r>
              <a:rPr lang="en-US" altLang="ko-KR" baseline="0" dirty="0"/>
              <a:t>2</a:t>
            </a:r>
            <a:r>
              <a:rPr lang="ko-KR" altLang="en-US" baseline="0" dirty="0"/>
              <a:t>개로 이루어져 있기 때문에 장비를 세 종류로 분할하고 각각의 장비에 대해서 동시에 입자가 상호작용 할 수 있도록 모델링하였습니다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DCF7AB-FEA3-4FF7-9146-6EBC25463F2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839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baseline="0" dirty="0"/>
              <a:t>도메인이 학습 영역과 상이하기 때문에 입자와 경계간의 상호작용을 좀 더 효과적으로 모델링할 필요가 있습니다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저희는 크게 </a:t>
            </a:r>
            <a:r>
              <a:rPr lang="en-US" altLang="ko-KR" baseline="0" dirty="0"/>
              <a:t>3</a:t>
            </a:r>
            <a:r>
              <a:rPr lang="ko-KR" altLang="en-US" baseline="0" dirty="0"/>
              <a:t>가지 방법을 사용해서 입자와 경계간의 상호작용을 모델링하였습니다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endParaRPr lang="en-US" altLang="ko-KR" baseline="0" dirty="0"/>
          </a:p>
          <a:p>
            <a:pPr marL="0" indent="0">
              <a:buFontTx/>
              <a:buNone/>
            </a:pPr>
            <a:r>
              <a:rPr lang="ko-KR" altLang="en-US" baseline="0" dirty="0"/>
              <a:t>먼저 </a:t>
            </a:r>
            <a:r>
              <a:rPr lang="en-US" altLang="ko-KR" baseline="0" dirty="0"/>
              <a:t>Boundary Graph neural networks</a:t>
            </a:r>
            <a:r>
              <a:rPr lang="ko-KR" altLang="en-US" baseline="0" dirty="0"/>
              <a:t>라는 논문에서 사용된 방법입니다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기존의 </a:t>
            </a:r>
            <a:r>
              <a:rPr lang="en-US" altLang="ko-KR" baseline="0" dirty="0"/>
              <a:t>GNN</a:t>
            </a:r>
            <a:r>
              <a:rPr lang="ko-KR" altLang="en-US" baseline="0" dirty="0"/>
              <a:t>은 경계 노드들을 전부 하나의 입자라고 판단하고 일정 거리내에 있는 노드들은 전부 입자와 연결하였습니다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우측 그림에서 보시면 </a:t>
            </a:r>
            <a:r>
              <a:rPr lang="en-US" altLang="ko-KR" baseline="0" dirty="0"/>
              <a:t>P </a:t>
            </a:r>
            <a:r>
              <a:rPr lang="en-US" altLang="ko-KR" baseline="0" dirty="0" err="1"/>
              <a:t>i</a:t>
            </a:r>
            <a:r>
              <a:rPr lang="ko-KR" altLang="en-US" baseline="0" dirty="0"/>
              <a:t>와 </a:t>
            </a:r>
            <a:r>
              <a:rPr lang="en-US" altLang="ko-KR" baseline="0" dirty="0"/>
              <a:t>W 1, W 2, W 3</a:t>
            </a:r>
            <a:r>
              <a:rPr lang="ko-KR" altLang="en-US" baseline="0" dirty="0"/>
              <a:t>를 전부 </a:t>
            </a:r>
            <a:r>
              <a:rPr lang="ko-KR" altLang="en-US" baseline="0" dirty="0" err="1"/>
              <a:t>연결한거죠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하지만 이렇게 모든 노드들을 연결할 경우 불필요한 </a:t>
            </a:r>
            <a:r>
              <a:rPr lang="ko-KR" altLang="en-US" baseline="0" dirty="0" err="1"/>
              <a:t>엣지들이</a:t>
            </a:r>
            <a:r>
              <a:rPr lang="ko-KR" altLang="en-US" baseline="0" dirty="0"/>
              <a:t> 너무 많이 생성되기 때문에 그래프의 사이즈가 커지고 이는 학습 속도와 예측 속도를 낮추는 문제가 됩니다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뿐만 아니라</a:t>
            </a:r>
            <a:r>
              <a:rPr lang="en-US" altLang="ko-KR" baseline="0" dirty="0"/>
              <a:t>, </a:t>
            </a:r>
            <a:r>
              <a:rPr lang="ko-KR" altLang="en-US" baseline="0" dirty="0"/>
              <a:t>불필요한 정보들이 입자에 너무 많이 들어오기 입력되기 때문에 예측 정확도 역시 떨어지는 문제점이 있습니다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따라서</a:t>
            </a:r>
            <a:r>
              <a:rPr lang="en-US" altLang="ko-KR" baseline="0" dirty="0"/>
              <a:t>, </a:t>
            </a:r>
            <a:r>
              <a:rPr lang="ko-KR" altLang="en-US" baseline="0" dirty="0"/>
              <a:t>모든 </a:t>
            </a:r>
            <a:r>
              <a:rPr lang="ko-KR" altLang="en-US" baseline="0" dirty="0" err="1"/>
              <a:t>메쉬의</a:t>
            </a:r>
            <a:r>
              <a:rPr lang="ko-KR" altLang="en-US" baseline="0" dirty="0"/>
              <a:t> 노드들을 입자와 연결하는 것이 아니라 </a:t>
            </a:r>
            <a:r>
              <a:rPr lang="ko-KR" altLang="en-US" baseline="0" dirty="0" err="1"/>
              <a:t>메쉬와</a:t>
            </a:r>
            <a:r>
              <a:rPr lang="ko-KR" altLang="en-US" baseline="0" dirty="0"/>
              <a:t> 입자와의 거리를 계산하고 </a:t>
            </a:r>
            <a:r>
              <a:rPr lang="ko-KR" altLang="en-US" baseline="0" dirty="0" err="1"/>
              <a:t>메쉬와</a:t>
            </a:r>
            <a:r>
              <a:rPr lang="ko-KR" altLang="en-US" baseline="0" dirty="0"/>
              <a:t> 입자 간의 최소 거리를 가지는 가상 점 </a:t>
            </a:r>
            <a:r>
              <a:rPr lang="en-US" altLang="ko-KR" baseline="0" dirty="0"/>
              <a:t>W </a:t>
            </a:r>
            <a:r>
              <a:rPr lang="en-US" altLang="ko-KR" baseline="0" dirty="0" err="1"/>
              <a:t>i</a:t>
            </a:r>
            <a:r>
              <a:rPr lang="ko-KR" altLang="en-US" baseline="0" dirty="0" err="1"/>
              <a:t>를</a:t>
            </a:r>
            <a:r>
              <a:rPr lang="ko-KR" altLang="en-US" baseline="0" dirty="0"/>
              <a:t> 생성하여 이 </a:t>
            </a:r>
            <a:r>
              <a:rPr lang="en-US" altLang="ko-KR" baseline="0" dirty="0"/>
              <a:t>W </a:t>
            </a:r>
            <a:r>
              <a:rPr lang="en-US" altLang="ko-KR" baseline="0" dirty="0" err="1"/>
              <a:t>i</a:t>
            </a:r>
            <a:r>
              <a:rPr lang="ko-KR" altLang="en-US" baseline="0" dirty="0"/>
              <a:t>와 </a:t>
            </a:r>
            <a:r>
              <a:rPr lang="en-US" altLang="ko-KR" baseline="0" dirty="0"/>
              <a:t>P I </a:t>
            </a:r>
            <a:r>
              <a:rPr lang="ko-KR" altLang="en-US" baseline="0" dirty="0"/>
              <a:t>사이의 </a:t>
            </a:r>
            <a:r>
              <a:rPr lang="ko-KR" altLang="en-US" baseline="0" dirty="0" err="1"/>
              <a:t>엣지</a:t>
            </a:r>
            <a:r>
              <a:rPr lang="ko-KR" altLang="en-US" baseline="0" dirty="0"/>
              <a:t> 하나만을 연결하는 방식으로 그래프를 간소화하고 예측 정확도를 올렸습니다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endParaRPr lang="en-US" altLang="ko-KR" baseline="0" dirty="0"/>
          </a:p>
          <a:p>
            <a:pPr marL="0" indent="0">
              <a:buFontTx/>
              <a:buNone/>
            </a:pPr>
            <a:r>
              <a:rPr lang="ko-KR" altLang="en-US" baseline="0" dirty="0"/>
              <a:t>다음으로 장비 단위로 </a:t>
            </a:r>
            <a:r>
              <a:rPr lang="ko-KR" altLang="en-US" baseline="0" dirty="0" err="1"/>
              <a:t>메쉬를</a:t>
            </a:r>
            <a:r>
              <a:rPr lang="ko-KR" altLang="en-US" baseline="0" dirty="0"/>
              <a:t> 분할하여 입자 경계 </a:t>
            </a:r>
            <a:r>
              <a:rPr lang="ko-KR" altLang="en-US" baseline="0" dirty="0" err="1"/>
              <a:t>엣지를</a:t>
            </a:r>
            <a:r>
              <a:rPr lang="ko-KR" altLang="en-US" baseline="0" dirty="0"/>
              <a:t> 연결하였습니다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전체 장비에 대해서 입자와 가장 가까운 </a:t>
            </a:r>
            <a:r>
              <a:rPr lang="en-US" altLang="ko-KR" baseline="0" dirty="0"/>
              <a:t>k</a:t>
            </a:r>
            <a:r>
              <a:rPr lang="ko-KR" altLang="en-US" baseline="0" dirty="0"/>
              <a:t>개의 </a:t>
            </a:r>
            <a:r>
              <a:rPr lang="ko-KR" altLang="en-US" baseline="0" dirty="0" err="1"/>
              <a:t>엣지를</a:t>
            </a:r>
            <a:r>
              <a:rPr lang="ko-KR" altLang="en-US" baseline="0" dirty="0"/>
              <a:t> 연결할 경우 여러 공정 장비에 대한 상호작용을 동시에 하지 못하고 특정 장비에 대해서만 입자가 정보를 받아올 수 있는 문제점이 있습니다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따라서 전체 장비가 아닌 각 장비별로 일정 개수 만큼의 </a:t>
            </a:r>
            <a:r>
              <a:rPr lang="ko-KR" altLang="en-US" baseline="0" dirty="0" err="1"/>
              <a:t>엣지를</a:t>
            </a:r>
            <a:r>
              <a:rPr lang="ko-KR" altLang="en-US" baseline="0" dirty="0"/>
              <a:t> 연결하였습니다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현재 예측하려고 하는 도메인의 경우 </a:t>
            </a:r>
            <a:r>
              <a:rPr lang="ko-KR" altLang="en-US" baseline="0" dirty="0" err="1"/>
              <a:t>호퍼와</a:t>
            </a:r>
            <a:r>
              <a:rPr lang="ko-KR" altLang="en-US" baseline="0" dirty="0"/>
              <a:t> 롤러 </a:t>
            </a:r>
            <a:r>
              <a:rPr lang="en-US" altLang="ko-KR" baseline="0" dirty="0"/>
              <a:t>2</a:t>
            </a:r>
            <a:r>
              <a:rPr lang="ko-KR" altLang="en-US" baseline="0" dirty="0"/>
              <a:t>개로 이루어져 있기 때문에 장비를 세 종류로 분할하고 각각의 장비에 대해서 동시에 입자가 상호작용 할 수 있도록 모델링하였습니다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DCF7AB-FEA3-4FF7-9146-6EBC25463F2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782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baseline="0" dirty="0"/>
              <a:t>도메인이 학습 영역과 상이하기 때문에 입자와 경계간의 상호작용을 좀 더 효과적으로 모델링할 필요가 있습니다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저희는 크게 </a:t>
            </a:r>
            <a:r>
              <a:rPr lang="en-US" altLang="ko-KR" baseline="0" dirty="0"/>
              <a:t>3</a:t>
            </a:r>
            <a:r>
              <a:rPr lang="ko-KR" altLang="en-US" baseline="0" dirty="0"/>
              <a:t>가지 방법을 사용해서 입자와 경계간의 상호작용을 모델링하였습니다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endParaRPr lang="en-US" altLang="ko-KR" baseline="0" dirty="0"/>
          </a:p>
          <a:p>
            <a:pPr marL="0" indent="0">
              <a:buFontTx/>
              <a:buNone/>
            </a:pPr>
            <a:r>
              <a:rPr lang="ko-KR" altLang="en-US" baseline="0" dirty="0"/>
              <a:t>먼저 </a:t>
            </a:r>
            <a:r>
              <a:rPr lang="en-US" altLang="ko-KR" baseline="0" dirty="0"/>
              <a:t>Boundary Graph neural networks</a:t>
            </a:r>
            <a:r>
              <a:rPr lang="ko-KR" altLang="en-US" baseline="0" dirty="0"/>
              <a:t>라는 논문에서 사용된 방법입니다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기존의 </a:t>
            </a:r>
            <a:r>
              <a:rPr lang="en-US" altLang="ko-KR" baseline="0" dirty="0"/>
              <a:t>GNN</a:t>
            </a:r>
            <a:r>
              <a:rPr lang="ko-KR" altLang="en-US" baseline="0" dirty="0"/>
              <a:t>은 경계 노드들을 전부 하나의 입자라고 판단하고 일정 거리내에 있는 노드들은 전부 입자와 연결하였습니다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우측 그림에서 보시면 </a:t>
            </a:r>
            <a:r>
              <a:rPr lang="en-US" altLang="ko-KR" baseline="0" dirty="0"/>
              <a:t>P </a:t>
            </a:r>
            <a:r>
              <a:rPr lang="en-US" altLang="ko-KR" baseline="0" dirty="0" err="1"/>
              <a:t>i</a:t>
            </a:r>
            <a:r>
              <a:rPr lang="ko-KR" altLang="en-US" baseline="0" dirty="0"/>
              <a:t>와 </a:t>
            </a:r>
            <a:r>
              <a:rPr lang="en-US" altLang="ko-KR" baseline="0" dirty="0"/>
              <a:t>W 1, W 2, W 3</a:t>
            </a:r>
            <a:r>
              <a:rPr lang="ko-KR" altLang="en-US" baseline="0" dirty="0"/>
              <a:t>를 전부 </a:t>
            </a:r>
            <a:r>
              <a:rPr lang="ko-KR" altLang="en-US" baseline="0" dirty="0" err="1"/>
              <a:t>연결한거죠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하지만 이렇게 모든 노드들을 연결할 경우 불필요한 </a:t>
            </a:r>
            <a:r>
              <a:rPr lang="ko-KR" altLang="en-US" baseline="0" dirty="0" err="1"/>
              <a:t>엣지들이</a:t>
            </a:r>
            <a:r>
              <a:rPr lang="ko-KR" altLang="en-US" baseline="0" dirty="0"/>
              <a:t> 너무 많이 생성되기 때문에 그래프의 사이즈가 커지고 이는 학습 속도와 예측 속도를 낮추는 문제가 됩니다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뿐만 아니라</a:t>
            </a:r>
            <a:r>
              <a:rPr lang="en-US" altLang="ko-KR" baseline="0" dirty="0"/>
              <a:t>, </a:t>
            </a:r>
            <a:r>
              <a:rPr lang="ko-KR" altLang="en-US" baseline="0" dirty="0"/>
              <a:t>불필요한 정보들이 입자에 너무 많이 들어오기 입력되기 때문에 예측 정확도 역시 떨어지는 문제점이 있습니다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따라서</a:t>
            </a:r>
            <a:r>
              <a:rPr lang="en-US" altLang="ko-KR" baseline="0" dirty="0"/>
              <a:t>, </a:t>
            </a:r>
            <a:r>
              <a:rPr lang="ko-KR" altLang="en-US" baseline="0" dirty="0"/>
              <a:t>모든 </a:t>
            </a:r>
            <a:r>
              <a:rPr lang="ko-KR" altLang="en-US" baseline="0" dirty="0" err="1"/>
              <a:t>메쉬의</a:t>
            </a:r>
            <a:r>
              <a:rPr lang="ko-KR" altLang="en-US" baseline="0" dirty="0"/>
              <a:t> 노드들을 입자와 연결하는 것이 아니라 </a:t>
            </a:r>
            <a:r>
              <a:rPr lang="ko-KR" altLang="en-US" baseline="0" dirty="0" err="1"/>
              <a:t>메쉬와</a:t>
            </a:r>
            <a:r>
              <a:rPr lang="ko-KR" altLang="en-US" baseline="0" dirty="0"/>
              <a:t> 입자와의 거리를 계산하고 </a:t>
            </a:r>
            <a:r>
              <a:rPr lang="ko-KR" altLang="en-US" baseline="0" dirty="0" err="1"/>
              <a:t>메쉬와</a:t>
            </a:r>
            <a:r>
              <a:rPr lang="ko-KR" altLang="en-US" baseline="0" dirty="0"/>
              <a:t> 입자 간의 최소 거리를 가지는 가상 점 </a:t>
            </a:r>
            <a:r>
              <a:rPr lang="en-US" altLang="ko-KR" baseline="0" dirty="0"/>
              <a:t>W </a:t>
            </a:r>
            <a:r>
              <a:rPr lang="en-US" altLang="ko-KR" baseline="0" dirty="0" err="1"/>
              <a:t>i</a:t>
            </a:r>
            <a:r>
              <a:rPr lang="ko-KR" altLang="en-US" baseline="0" dirty="0" err="1"/>
              <a:t>를</a:t>
            </a:r>
            <a:r>
              <a:rPr lang="ko-KR" altLang="en-US" baseline="0" dirty="0"/>
              <a:t> 생성하여 이 </a:t>
            </a:r>
            <a:r>
              <a:rPr lang="en-US" altLang="ko-KR" baseline="0" dirty="0"/>
              <a:t>W </a:t>
            </a:r>
            <a:r>
              <a:rPr lang="en-US" altLang="ko-KR" baseline="0" dirty="0" err="1"/>
              <a:t>i</a:t>
            </a:r>
            <a:r>
              <a:rPr lang="ko-KR" altLang="en-US" baseline="0" dirty="0"/>
              <a:t>와 </a:t>
            </a:r>
            <a:r>
              <a:rPr lang="en-US" altLang="ko-KR" baseline="0" dirty="0"/>
              <a:t>P I </a:t>
            </a:r>
            <a:r>
              <a:rPr lang="ko-KR" altLang="en-US" baseline="0" dirty="0"/>
              <a:t>사이의 </a:t>
            </a:r>
            <a:r>
              <a:rPr lang="ko-KR" altLang="en-US" baseline="0" dirty="0" err="1"/>
              <a:t>엣지</a:t>
            </a:r>
            <a:r>
              <a:rPr lang="ko-KR" altLang="en-US" baseline="0" dirty="0"/>
              <a:t> 하나만을 연결하는 방식으로 그래프를 간소화하고 예측 정확도를 올렸습니다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endParaRPr lang="en-US" altLang="ko-KR" baseline="0" dirty="0"/>
          </a:p>
          <a:p>
            <a:pPr marL="0" indent="0">
              <a:buFontTx/>
              <a:buNone/>
            </a:pPr>
            <a:r>
              <a:rPr lang="ko-KR" altLang="en-US" baseline="0" dirty="0"/>
              <a:t>다음으로 장비 단위로 </a:t>
            </a:r>
            <a:r>
              <a:rPr lang="ko-KR" altLang="en-US" baseline="0" dirty="0" err="1"/>
              <a:t>메쉬를</a:t>
            </a:r>
            <a:r>
              <a:rPr lang="ko-KR" altLang="en-US" baseline="0" dirty="0"/>
              <a:t> 분할하여 입자 경계 </a:t>
            </a:r>
            <a:r>
              <a:rPr lang="ko-KR" altLang="en-US" baseline="0" dirty="0" err="1"/>
              <a:t>엣지를</a:t>
            </a:r>
            <a:r>
              <a:rPr lang="ko-KR" altLang="en-US" baseline="0" dirty="0"/>
              <a:t> 연결하였습니다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전체 장비에 대해서 입자와 가장 가까운 </a:t>
            </a:r>
            <a:r>
              <a:rPr lang="en-US" altLang="ko-KR" baseline="0" dirty="0"/>
              <a:t>k</a:t>
            </a:r>
            <a:r>
              <a:rPr lang="ko-KR" altLang="en-US" baseline="0" dirty="0"/>
              <a:t>개의 </a:t>
            </a:r>
            <a:r>
              <a:rPr lang="ko-KR" altLang="en-US" baseline="0" dirty="0" err="1"/>
              <a:t>엣지를</a:t>
            </a:r>
            <a:r>
              <a:rPr lang="ko-KR" altLang="en-US" baseline="0" dirty="0"/>
              <a:t> 연결할 경우 여러 공정 장비에 대한 상호작용을 동시에 하지 못하고 특정 장비에 대해서만 입자가 정보를 받아올 수 있는 문제점이 있습니다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따라서 전체 장비가 아닌 각 장비별로 일정 개수 만큼의 </a:t>
            </a:r>
            <a:r>
              <a:rPr lang="ko-KR" altLang="en-US" baseline="0" dirty="0" err="1"/>
              <a:t>엣지를</a:t>
            </a:r>
            <a:r>
              <a:rPr lang="ko-KR" altLang="en-US" baseline="0" dirty="0"/>
              <a:t> 연결하였습니다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현재 예측하려고 하는 도메인의 경우 </a:t>
            </a:r>
            <a:r>
              <a:rPr lang="ko-KR" altLang="en-US" baseline="0" dirty="0" err="1"/>
              <a:t>호퍼와</a:t>
            </a:r>
            <a:r>
              <a:rPr lang="ko-KR" altLang="en-US" baseline="0" dirty="0"/>
              <a:t> 롤러 </a:t>
            </a:r>
            <a:r>
              <a:rPr lang="en-US" altLang="ko-KR" baseline="0" dirty="0"/>
              <a:t>2</a:t>
            </a:r>
            <a:r>
              <a:rPr lang="ko-KR" altLang="en-US" baseline="0" dirty="0"/>
              <a:t>개로 이루어져 있기 때문에 장비를 세 종류로 분할하고 각각의 장비에 대해서 동시에 입자가 상호작용 할 수 있도록 모델링하였습니다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DCF7AB-FEA3-4FF7-9146-6EBC25463F2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2303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baseline="0" dirty="0"/>
              <a:t>도메인이 학습 영역과 상이하기 때문에 입자와 경계간의 상호작용을 좀 더 효과적으로 모델링할 필요가 있습니다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저희는 크게 </a:t>
            </a:r>
            <a:r>
              <a:rPr lang="en-US" altLang="ko-KR" baseline="0" dirty="0"/>
              <a:t>3</a:t>
            </a:r>
            <a:r>
              <a:rPr lang="ko-KR" altLang="en-US" baseline="0" dirty="0"/>
              <a:t>가지 방법을 사용해서 입자와 경계간의 상호작용을 모델링하였습니다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endParaRPr lang="en-US" altLang="ko-KR" baseline="0" dirty="0"/>
          </a:p>
          <a:p>
            <a:pPr marL="0" indent="0">
              <a:buFontTx/>
              <a:buNone/>
            </a:pPr>
            <a:r>
              <a:rPr lang="ko-KR" altLang="en-US" baseline="0" dirty="0"/>
              <a:t>먼저 </a:t>
            </a:r>
            <a:r>
              <a:rPr lang="en-US" altLang="ko-KR" baseline="0" dirty="0"/>
              <a:t>Boundary Graph neural networks</a:t>
            </a:r>
            <a:r>
              <a:rPr lang="ko-KR" altLang="en-US" baseline="0" dirty="0"/>
              <a:t>라는 논문에서 사용된 방법입니다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기존의 </a:t>
            </a:r>
            <a:r>
              <a:rPr lang="en-US" altLang="ko-KR" baseline="0" dirty="0"/>
              <a:t>GNN</a:t>
            </a:r>
            <a:r>
              <a:rPr lang="ko-KR" altLang="en-US" baseline="0" dirty="0"/>
              <a:t>은 경계 노드들을 전부 하나의 입자라고 판단하고 일정 거리내에 있는 노드들은 전부 입자와 연결하였습니다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우측 그림에서 보시면 </a:t>
            </a:r>
            <a:r>
              <a:rPr lang="en-US" altLang="ko-KR" baseline="0" dirty="0"/>
              <a:t>P </a:t>
            </a:r>
            <a:r>
              <a:rPr lang="en-US" altLang="ko-KR" baseline="0" dirty="0" err="1"/>
              <a:t>i</a:t>
            </a:r>
            <a:r>
              <a:rPr lang="ko-KR" altLang="en-US" baseline="0" dirty="0"/>
              <a:t>와 </a:t>
            </a:r>
            <a:r>
              <a:rPr lang="en-US" altLang="ko-KR" baseline="0" dirty="0"/>
              <a:t>W 1, W 2, W 3</a:t>
            </a:r>
            <a:r>
              <a:rPr lang="ko-KR" altLang="en-US" baseline="0" dirty="0"/>
              <a:t>를 전부 </a:t>
            </a:r>
            <a:r>
              <a:rPr lang="ko-KR" altLang="en-US" baseline="0" dirty="0" err="1"/>
              <a:t>연결한거죠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하지만 이렇게 모든 노드들을 연결할 경우 불필요한 </a:t>
            </a:r>
            <a:r>
              <a:rPr lang="ko-KR" altLang="en-US" baseline="0" dirty="0" err="1"/>
              <a:t>엣지들이</a:t>
            </a:r>
            <a:r>
              <a:rPr lang="ko-KR" altLang="en-US" baseline="0" dirty="0"/>
              <a:t> 너무 많이 생성되기 때문에 그래프의 사이즈가 커지고 이는 학습 속도와 예측 속도를 낮추는 문제가 됩니다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뿐만 아니라</a:t>
            </a:r>
            <a:r>
              <a:rPr lang="en-US" altLang="ko-KR" baseline="0" dirty="0"/>
              <a:t>, </a:t>
            </a:r>
            <a:r>
              <a:rPr lang="ko-KR" altLang="en-US" baseline="0" dirty="0"/>
              <a:t>불필요한 정보들이 입자에 너무 많이 들어오기 입력되기 때문에 예측 정확도 역시 떨어지는 문제점이 있습니다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따라서</a:t>
            </a:r>
            <a:r>
              <a:rPr lang="en-US" altLang="ko-KR" baseline="0" dirty="0"/>
              <a:t>, </a:t>
            </a:r>
            <a:r>
              <a:rPr lang="ko-KR" altLang="en-US" baseline="0" dirty="0"/>
              <a:t>모든 </a:t>
            </a:r>
            <a:r>
              <a:rPr lang="ko-KR" altLang="en-US" baseline="0" dirty="0" err="1"/>
              <a:t>메쉬의</a:t>
            </a:r>
            <a:r>
              <a:rPr lang="ko-KR" altLang="en-US" baseline="0" dirty="0"/>
              <a:t> 노드들을 입자와 연결하는 것이 아니라 </a:t>
            </a:r>
            <a:r>
              <a:rPr lang="ko-KR" altLang="en-US" baseline="0" dirty="0" err="1"/>
              <a:t>메쉬와</a:t>
            </a:r>
            <a:r>
              <a:rPr lang="ko-KR" altLang="en-US" baseline="0" dirty="0"/>
              <a:t> 입자와의 거리를 계산하고 </a:t>
            </a:r>
            <a:r>
              <a:rPr lang="ko-KR" altLang="en-US" baseline="0" dirty="0" err="1"/>
              <a:t>메쉬와</a:t>
            </a:r>
            <a:r>
              <a:rPr lang="ko-KR" altLang="en-US" baseline="0" dirty="0"/>
              <a:t> 입자 간의 최소 거리를 가지는 가상 점 </a:t>
            </a:r>
            <a:r>
              <a:rPr lang="en-US" altLang="ko-KR" baseline="0" dirty="0"/>
              <a:t>W </a:t>
            </a:r>
            <a:r>
              <a:rPr lang="en-US" altLang="ko-KR" baseline="0" dirty="0" err="1"/>
              <a:t>i</a:t>
            </a:r>
            <a:r>
              <a:rPr lang="ko-KR" altLang="en-US" baseline="0" dirty="0" err="1"/>
              <a:t>를</a:t>
            </a:r>
            <a:r>
              <a:rPr lang="ko-KR" altLang="en-US" baseline="0" dirty="0"/>
              <a:t> 생성하여 이 </a:t>
            </a:r>
            <a:r>
              <a:rPr lang="en-US" altLang="ko-KR" baseline="0" dirty="0"/>
              <a:t>W </a:t>
            </a:r>
            <a:r>
              <a:rPr lang="en-US" altLang="ko-KR" baseline="0" dirty="0" err="1"/>
              <a:t>i</a:t>
            </a:r>
            <a:r>
              <a:rPr lang="ko-KR" altLang="en-US" baseline="0" dirty="0"/>
              <a:t>와 </a:t>
            </a:r>
            <a:r>
              <a:rPr lang="en-US" altLang="ko-KR" baseline="0" dirty="0"/>
              <a:t>P I </a:t>
            </a:r>
            <a:r>
              <a:rPr lang="ko-KR" altLang="en-US" baseline="0" dirty="0"/>
              <a:t>사이의 </a:t>
            </a:r>
            <a:r>
              <a:rPr lang="ko-KR" altLang="en-US" baseline="0" dirty="0" err="1"/>
              <a:t>엣지</a:t>
            </a:r>
            <a:r>
              <a:rPr lang="ko-KR" altLang="en-US" baseline="0" dirty="0"/>
              <a:t> 하나만을 연결하는 방식으로 그래프를 간소화하고 예측 정확도를 올렸습니다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endParaRPr lang="en-US" altLang="ko-KR" baseline="0" dirty="0"/>
          </a:p>
          <a:p>
            <a:pPr marL="0" indent="0">
              <a:buFontTx/>
              <a:buNone/>
            </a:pPr>
            <a:r>
              <a:rPr lang="ko-KR" altLang="en-US" baseline="0" dirty="0"/>
              <a:t>다음으로 장비 단위로 </a:t>
            </a:r>
            <a:r>
              <a:rPr lang="ko-KR" altLang="en-US" baseline="0" dirty="0" err="1"/>
              <a:t>메쉬를</a:t>
            </a:r>
            <a:r>
              <a:rPr lang="ko-KR" altLang="en-US" baseline="0" dirty="0"/>
              <a:t> 분할하여 입자 경계 </a:t>
            </a:r>
            <a:r>
              <a:rPr lang="ko-KR" altLang="en-US" baseline="0" dirty="0" err="1"/>
              <a:t>엣지를</a:t>
            </a:r>
            <a:r>
              <a:rPr lang="ko-KR" altLang="en-US" baseline="0" dirty="0"/>
              <a:t> 연결하였습니다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전체 장비에 대해서 입자와 가장 가까운 </a:t>
            </a:r>
            <a:r>
              <a:rPr lang="en-US" altLang="ko-KR" baseline="0" dirty="0"/>
              <a:t>k</a:t>
            </a:r>
            <a:r>
              <a:rPr lang="ko-KR" altLang="en-US" baseline="0" dirty="0"/>
              <a:t>개의 </a:t>
            </a:r>
            <a:r>
              <a:rPr lang="ko-KR" altLang="en-US" baseline="0" dirty="0" err="1"/>
              <a:t>엣지를</a:t>
            </a:r>
            <a:r>
              <a:rPr lang="ko-KR" altLang="en-US" baseline="0" dirty="0"/>
              <a:t> 연결할 경우 여러 공정 장비에 대한 상호작용을 동시에 하지 못하고 특정 장비에 대해서만 입자가 정보를 받아올 수 있는 문제점이 있습니다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따라서 전체 장비가 아닌 각 장비별로 일정 개수 만큼의 </a:t>
            </a:r>
            <a:r>
              <a:rPr lang="ko-KR" altLang="en-US" baseline="0" dirty="0" err="1"/>
              <a:t>엣지를</a:t>
            </a:r>
            <a:r>
              <a:rPr lang="ko-KR" altLang="en-US" baseline="0" dirty="0"/>
              <a:t> 연결하였습니다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현재 예측하려고 하는 도메인의 경우 </a:t>
            </a:r>
            <a:r>
              <a:rPr lang="ko-KR" altLang="en-US" baseline="0" dirty="0" err="1"/>
              <a:t>호퍼와</a:t>
            </a:r>
            <a:r>
              <a:rPr lang="ko-KR" altLang="en-US" baseline="0" dirty="0"/>
              <a:t> 롤러 </a:t>
            </a:r>
            <a:r>
              <a:rPr lang="en-US" altLang="ko-KR" baseline="0" dirty="0"/>
              <a:t>2</a:t>
            </a:r>
            <a:r>
              <a:rPr lang="ko-KR" altLang="en-US" baseline="0" dirty="0"/>
              <a:t>개로 이루어져 있기 때문에 장비를 세 종류로 분할하고 각각의 장비에 대해서 동시에 입자가 상호작용 할 수 있도록 모델링하였습니다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DCF7AB-FEA3-4FF7-9146-6EBC25463F2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936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baseline="0" dirty="0"/>
              <a:t>GNN</a:t>
            </a:r>
            <a:r>
              <a:rPr lang="ko-KR" altLang="en-US" baseline="0" dirty="0"/>
              <a:t>을 학습시키기 위하여 공정을 작게 축소시킨 도메인입니다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기존 롤러의 지름이 </a:t>
            </a:r>
            <a:r>
              <a:rPr lang="en-US" altLang="ko-KR" baseline="0" dirty="0"/>
              <a:t>500mm</a:t>
            </a:r>
            <a:r>
              <a:rPr lang="ko-KR" altLang="en-US" baseline="0" dirty="0"/>
              <a:t>였던 것을 </a:t>
            </a:r>
            <a:r>
              <a:rPr lang="en-US" altLang="ko-KR" baseline="0" dirty="0"/>
              <a:t>25mm, 30mm</a:t>
            </a:r>
            <a:r>
              <a:rPr lang="ko-KR" altLang="en-US" baseline="0" dirty="0"/>
              <a:t>로 줄였고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호퍼의</a:t>
            </a:r>
            <a:r>
              <a:rPr lang="ko-KR" altLang="en-US" baseline="0" dirty="0"/>
              <a:t> 높이 역시 </a:t>
            </a:r>
            <a:r>
              <a:rPr lang="en-US" altLang="ko-KR" baseline="0" dirty="0"/>
              <a:t>500mm</a:t>
            </a:r>
            <a:r>
              <a:rPr lang="ko-KR" altLang="en-US" baseline="0" dirty="0"/>
              <a:t>에서 </a:t>
            </a:r>
            <a:r>
              <a:rPr lang="en-US" altLang="ko-KR" baseline="0" dirty="0"/>
              <a:t>10mm</a:t>
            </a:r>
            <a:r>
              <a:rPr lang="ko-KR" altLang="en-US" baseline="0" dirty="0"/>
              <a:t>로 줄였습니다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전극 폭도 기존 </a:t>
            </a:r>
            <a:r>
              <a:rPr lang="en-US" altLang="ko-KR" baseline="0" dirty="0"/>
              <a:t>300mm</a:t>
            </a:r>
            <a:r>
              <a:rPr lang="ko-KR" altLang="en-US" baseline="0" dirty="0"/>
              <a:t>에서 </a:t>
            </a:r>
            <a:r>
              <a:rPr lang="en-US" altLang="ko-KR" baseline="0" dirty="0"/>
              <a:t>2mm</a:t>
            </a:r>
            <a:r>
              <a:rPr lang="ko-KR" altLang="en-US" baseline="0" dirty="0"/>
              <a:t>로 축소시켜 </a:t>
            </a:r>
            <a:r>
              <a:rPr lang="en-US" altLang="ko-KR" baseline="0" dirty="0"/>
              <a:t>2300, 2700</a:t>
            </a:r>
            <a:r>
              <a:rPr lang="ko-KR" altLang="en-US" baseline="0" dirty="0"/>
              <a:t>개의 입자를 포함하는 소규모 도메인 데이터셋을 제작하였습니다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DCF7AB-FEA3-4FF7-9146-6EBC25463F2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474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baseline="0" dirty="0"/>
              <a:t>도메인이 학습 영역과 상이하기 때문에 입자와 경계간의 상호작용을 좀 더 효과적으로 모델링할 필요가 있습니다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저희는 크게 </a:t>
            </a:r>
            <a:r>
              <a:rPr lang="en-US" altLang="ko-KR" baseline="0" dirty="0"/>
              <a:t>3</a:t>
            </a:r>
            <a:r>
              <a:rPr lang="ko-KR" altLang="en-US" baseline="0" dirty="0"/>
              <a:t>가지 방법을 사용해서 입자와 경계간의 상호작용을 모델링하였습니다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endParaRPr lang="en-US" altLang="ko-KR" baseline="0" dirty="0"/>
          </a:p>
          <a:p>
            <a:pPr marL="0" indent="0">
              <a:buFontTx/>
              <a:buNone/>
            </a:pPr>
            <a:r>
              <a:rPr lang="ko-KR" altLang="en-US" baseline="0" dirty="0"/>
              <a:t>먼저 </a:t>
            </a:r>
            <a:r>
              <a:rPr lang="en-US" altLang="ko-KR" baseline="0" dirty="0"/>
              <a:t>Boundary Graph neural networks</a:t>
            </a:r>
            <a:r>
              <a:rPr lang="ko-KR" altLang="en-US" baseline="0" dirty="0"/>
              <a:t>라는 논문에서 사용된 방법입니다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기존의 </a:t>
            </a:r>
            <a:r>
              <a:rPr lang="en-US" altLang="ko-KR" baseline="0" dirty="0"/>
              <a:t>GNN</a:t>
            </a:r>
            <a:r>
              <a:rPr lang="ko-KR" altLang="en-US" baseline="0" dirty="0"/>
              <a:t>은 경계 노드들을 전부 하나의 입자라고 판단하고 일정 거리내에 있는 노드들은 전부 입자와 연결하였습니다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우측 그림에서 보시면 </a:t>
            </a:r>
            <a:r>
              <a:rPr lang="en-US" altLang="ko-KR" baseline="0" dirty="0"/>
              <a:t>P </a:t>
            </a:r>
            <a:r>
              <a:rPr lang="en-US" altLang="ko-KR" baseline="0" dirty="0" err="1"/>
              <a:t>i</a:t>
            </a:r>
            <a:r>
              <a:rPr lang="ko-KR" altLang="en-US" baseline="0" dirty="0"/>
              <a:t>와 </a:t>
            </a:r>
            <a:r>
              <a:rPr lang="en-US" altLang="ko-KR" baseline="0" dirty="0"/>
              <a:t>W 1, W 2, W 3</a:t>
            </a:r>
            <a:r>
              <a:rPr lang="ko-KR" altLang="en-US" baseline="0" dirty="0"/>
              <a:t>를 전부 </a:t>
            </a:r>
            <a:r>
              <a:rPr lang="ko-KR" altLang="en-US" baseline="0" dirty="0" err="1"/>
              <a:t>연결한거죠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하지만 이렇게 모든 노드들을 연결할 경우 불필요한 </a:t>
            </a:r>
            <a:r>
              <a:rPr lang="ko-KR" altLang="en-US" baseline="0" dirty="0" err="1"/>
              <a:t>엣지들이</a:t>
            </a:r>
            <a:r>
              <a:rPr lang="ko-KR" altLang="en-US" baseline="0" dirty="0"/>
              <a:t> 너무 많이 생성되기 때문에 그래프의 사이즈가 커지고 이는 학습 속도와 예측 속도를 낮추는 문제가 됩니다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뿐만 아니라</a:t>
            </a:r>
            <a:r>
              <a:rPr lang="en-US" altLang="ko-KR" baseline="0" dirty="0"/>
              <a:t>, </a:t>
            </a:r>
            <a:r>
              <a:rPr lang="ko-KR" altLang="en-US" baseline="0" dirty="0"/>
              <a:t>불필요한 정보들이 입자에 너무 많이 들어오기 입력되기 때문에 예측 정확도 역시 떨어지는 문제점이 있습니다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따라서</a:t>
            </a:r>
            <a:r>
              <a:rPr lang="en-US" altLang="ko-KR" baseline="0" dirty="0"/>
              <a:t>, </a:t>
            </a:r>
            <a:r>
              <a:rPr lang="ko-KR" altLang="en-US" baseline="0" dirty="0"/>
              <a:t>모든 </a:t>
            </a:r>
            <a:r>
              <a:rPr lang="ko-KR" altLang="en-US" baseline="0" dirty="0" err="1"/>
              <a:t>메쉬의</a:t>
            </a:r>
            <a:r>
              <a:rPr lang="ko-KR" altLang="en-US" baseline="0" dirty="0"/>
              <a:t> 노드들을 입자와 연결하는 것이 아니라 </a:t>
            </a:r>
            <a:r>
              <a:rPr lang="ko-KR" altLang="en-US" baseline="0" dirty="0" err="1"/>
              <a:t>메쉬와</a:t>
            </a:r>
            <a:r>
              <a:rPr lang="ko-KR" altLang="en-US" baseline="0" dirty="0"/>
              <a:t> 입자와의 거리를 계산하고 </a:t>
            </a:r>
            <a:r>
              <a:rPr lang="ko-KR" altLang="en-US" baseline="0" dirty="0" err="1"/>
              <a:t>메쉬와</a:t>
            </a:r>
            <a:r>
              <a:rPr lang="ko-KR" altLang="en-US" baseline="0" dirty="0"/>
              <a:t> 입자 간의 최소 거리를 가지는 가상 점 </a:t>
            </a:r>
            <a:r>
              <a:rPr lang="en-US" altLang="ko-KR" baseline="0" dirty="0"/>
              <a:t>W </a:t>
            </a:r>
            <a:r>
              <a:rPr lang="en-US" altLang="ko-KR" baseline="0" dirty="0" err="1"/>
              <a:t>i</a:t>
            </a:r>
            <a:r>
              <a:rPr lang="ko-KR" altLang="en-US" baseline="0" dirty="0" err="1"/>
              <a:t>를</a:t>
            </a:r>
            <a:r>
              <a:rPr lang="ko-KR" altLang="en-US" baseline="0" dirty="0"/>
              <a:t> 생성하여 이 </a:t>
            </a:r>
            <a:r>
              <a:rPr lang="en-US" altLang="ko-KR" baseline="0" dirty="0"/>
              <a:t>W </a:t>
            </a:r>
            <a:r>
              <a:rPr lang="en-US" altLang="ko-KR" baseline="0" dirty="0" err="1"/>
              <a:t>i</a:t>
            </a:r>
            <a:r>
              <a:rPr lang="ko-KR" altLang="en-US" baseline="0" dirty="0"/>
              <a:t>와 </a:t>
            </a:r>
            <a:r>
              <a:rPr lang="en-US" altLang="ko-KR" baseline="0" dirty="0"/>
              <a:t>P I </a:t>
            </a:r>
            <a:r>
              <a:rPr lang="ko-KR" altLang="en-US" baseline="0" dirty="0"/>
              <a:t>사이의 </a:t>
            </a:r>
            <a:r>
              <a:rPr lang="ko-KR" altLang="en-US" baseline="0" dirty="0" err="1"/>
              <a:t>엣지</a:t>
            </a:r>
            <a:r>
              <a:rPr lang="ko-KR" altLang="en-US" baseline="0" dirty="0"/>
              <a:t> 하나만을 연결하는 방식으로 그래프를 간소화하고 예측 정확도를 올렸습니다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endParaRPr lang="en-US" altLang="ko-KR" baseline="0" dirty="0"/>
          </a:p>
          <a:p>
            <a:pPr marL="0" indent="0">
              <a:buFontTx/>
              <a:buNone/>
            </a:pPr>
            <a:r>
              <a:rPr lang="ko-KR" altLang="en-US" baseline="0" dirty="0"/>
              <a:t>다음으로 장비 단위로 </a:t>
            </a:r>
            <a:r>
              <a:rPr lang="ko-KR" altLang="en-US" baseline="0" dirty="0" err="1"/>
              <a:t>메쉬를</a:t>
            </a:r>
            <a:r>
              <a:rPr lang="ko-KR" altLang="en-US" baseline="0" dirty="0"/>
              <a:t> 분할하여 입자 경계 </a:t>
            </a:r>
            <a:r>
              <a:rPr lang="ko-KR" altLang="en-US" baseline="0" dirty="0" err="1"/>
              <a:t>엣지를</a:t>
            </a:r>
            <a:r>
              <a:rPr lang="ko-KR" altLang="en-US" baseline="0" dirty="0"/>
              <a:t> 연결하였습니다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전체 장비에 대해서 입자와 가장 가까운 </a:t>
            </a:r>
            <a:r>
              <a:rPr lang="en-US" altLang="ko-KR" baseline="0" dirty="0"/>
              <a:t>k</a:t>
            </a:r>
            <a:r>
              <a:rPr lang="ko-KR" altLang="en-US" baseline="0" dirty="0"/>
              <a:t>개의 </a:t>
            </a:r>
            <a:r>
              <a:rPr lang="ko-KR" altLang="en-US" baseline="0" dirty="0" err="1"/>
              <a:t>엣지를</a:t>
            </a:r>
            <a:r>
              <a:rPr lang="ko-KR" altLang="en-US" baseline="0" dirty="0"/>
              <a:t> 연결할 경우 여러 공정 장비에 대한 상호작용을 동시에 하지 못하고 특정 장비에 대해서만 입자가 정보를 받아올 수 있는 문제점이 있습니다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따라서 전체 장비가 아닌 각 장비별로 일정 개수 만큼의 </a:t>
            </a:r>
            <a:r>
              <a:rPr lang="ko-KR" altLang="en-US" baseline="0" dirty="0" err="1"/>
              <a:t>엣지를</a:t>
            </a:r>
            <a:r>
              <a:rPr lang="ko-KR" altLang="en-US" baseline="0" dirty="0"/>
              <a:t> 연결하였습니다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현재 예측하려고 하는 도메인의 경우 </a:t>
            </a:r>
            <a:r>
              <a:rPr lang="ko-KR" altLang="en-US" baseline="0" dirty="0" err="1"/>
              <a:t>호퍼와</a:t>
            </a:r>
            <a:r>
              <a:rPr lang="ko-KR" altLang="en-US" baseline="0" dirty="0"/>
              <a:t> 롤러 </a:t>
            </a:r>
            <a:r>
              <a:rPr lang="en-US" altLang="ko-KR" baseline="0" dirty="0"/>
              <a:t>2</a:t>
            </a:r>
            <a:r>
              <a:rPr lang="ko-KR" altLang="en-US" baseline="0" dirty="0"/>
              <a:t>개로 이루어져 있기 때문에 장비를 세 종류로 분할하고 각각의 장비에 대해서 동시에 입자가 상호작용 할 수 있도록 모델링하였습니다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DCF7AB-FEA3-4FF7-9146-6EBC25463F2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6632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baseline="0" dirty="0"/>
              <a:t>도메인이 학습 영역과 상이하기 때문에 입자와 경계간의 상호작용을 좀 더 효과적으로 모델링할 필요가 있습니다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저희는 크게 </a:t>
            </a:r>
            <a:r>
              <a:rPr lang="en-US" altLang="ko-KR" baseline="0" dirty="0"/>
              <a:t>3</a:t>
            </a:r>
            <a:r>
              <a:rPr lang="ko-KR" altLang="en-US" baseline="0" dirty="0"/>
              <a:t>가지 방법을 사용해서 입자와 경계간의 상호작용을 모델링하였습니다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endParaRPr lang="en-US" altLang="ko-KR" baseline="0" dirty="0"/>
          </a:p>
          <a:p>
            <a:pPr marL="0" indent="0">
              <a:buFontTx/>
              <a:buNone/>
            </a:pPr>
            <a:r>
              <a:rPr lang="ko-KR" altLang="en-US" baseline="0" dirty="0"/>
              <a:t>먼저 </a:t>
            </a:r>
            <a:r>
              <a:rPr lang="en-US" altLang="ko-KR" baseline="0" dirty="0"/>
              <a:t>Boundary Graph neural networks</a:t>
            </a:r>
            <a:r>
              <a:rPr lang="ko-KR" altLang="en-US" baseline="0" dirty="0"/>
              <a:t>라는 논문에서 사용된 방법입니다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기존의 </a:t>
            </a:r>
            <a:r>
              <a:rPr lang="en-US" altLang="ko-KR" baseline="0" dirty="0"/>
              <a:t>GNN</a:t>
            </a:r>
            <a:r>
              <a:rPr lang="ko-KR" altLang="en-US" baseline="0" dirty="0"/>
              <a:t>은 경계 노드들을 전부 하나의 입자라고 판단하고 일정 거리내에 있는 노드들은 전부 입자와 연결하였습니다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우측 그림에서 보시면 </a:t>
            </a:r>
            <a:r>
              <a:rPr lang="en-US" altLang="ko-KR" baseline="0" dirty="0"/>
              <a:t>P </a:t>
            </a:r>
            <a:r>
              <a:rPr lang="en-US" altLang="ko-KR" baseline="0" dirty="0" err="1"/>
              <a:t>i</a:t>
            </a:r>
            <a:r>
              <a:rPr lang="ko-KR" altLang="en-US" baseline="0" dirty="0"/>
              <a:t>와 </a:t>
            </a:r>
            <a:r>
              <a:rPr lang="en-US" altLang="ko-KR" baseline="0" dirty="0"/>
              <a:t>W 1, W 2, W 3</a:t>
            </a:r>
            <a:r>
              <a:rPr lang="ko-KR" altLang="en-US" baseline="0" dirty="0"/>
              <a:t>를 전부 </a:t>
            </a:r>
            <a:r>
              <a:rPr lang="ko-KR" altLang="en-US" baseline="0" dirty="0" err="1"/>
              <a:t>연결한거죠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하지만 이렇게 모든 노드들을 연결할 경우 불필요한 </a:t>
            </a:r>
            <a:r>
              <a:rPr lang="ko-KR" altLang="en-US" baseline="0" dirty="0" err="1"/>
              <a:t>엣지들이</a:t>
            </a:r>
            <a:r>
              <a:rPr lang="ko-KR" altLang="en-US" baseline="0" dirty="0"/>
              <a:t> 너무 많이 생성되기 때문에 그래프의 사이즈가 커지고 이는 학습 속도와 예측 속도를 낮추는 문제가 됩니다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뿐만 아니라</a:t>
            </a:r>
            <a:r>
              <a:rPr lang="en-US" altLang="ko-KR" baseline="0" dirty="0"/>
              <a:t>, </a:t>
            </a:r>
            <a:r>
              <a:rPr lang="ko-KR" altLang="en-US" baseline="0" dirty="0"/>
              <a:t>불필요한 정보들이 입자에 너무 많이 들어오기 입력되기 때문에 예측 정확도 역시 떨어지는 문제점이 있습니다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따라서</a:t>
            </a:r>
            <a:r>
              <a:rPr lang="en-US" altLang="ko-KR" baseline="0" dirty="0"/>
              <a:t>, </a:t>
            </a:r>
            <a:r>
              <a:rPr lang="ko-KR" altLang="en-US" baseline="0" dirty="0"/>
              <a:t>모든 </a:t>
            </a:r>
            <a:r>
              <a:rPr lang="ko-KR" altLang="en-US" baseline="0" dirty="0" err="1"/>
              <a:t>메쉬의</a:t>
            </a:r>
            <a:r>
              <a:rPr lang="ko-KR" altLang="en-US" baseline="0" dirty="0"/>
              <a:t> 노드들을 입자와 연결하는 것이 아니라 </a:t>
            </a:r>
            <a:r>
              <a:rPr lang="ko-KR" altLang="en-US" baseline="0" dirty="0" err="1"/>
              <a:t>메쉬와</a:t>
            </a:r>
            <a:r>
              <a:rPr lang="ko-KR" altLang="en-US" baseline="0" dirty="0"/>
              <a:t> 입자와의 거리를 계산하고 </a:t>
            </a:r>
            <a:r>
              <a:rPr lang="ko-KR" altLang="en-US" baseline="0" dirty="0" err="1"/>
              <a:t>메쉬와</a:t>
            </a:r>
            <a:r>
              <a:rPr lang="ko-KR" altLang="en-US" baseline="0" dirty="0"/>
              <a:t> 입자 간의 최소 거리를 가지는 가상 점 </a:t>
            </a:r>
            <a:r>
              <a:rPr lang="en-US" altLang="ko-KR" baseline="0" dirty="0"/>
              <a:t>W </a:t>
            </a:r>
            <a:r>
              <a:rPr lang="en-US" altLang="ko-KR" baseline="0" dirty="0" err="1"/>
              <a:t>i</a:t>
            </a:r>
            <a:r>
              <a:rPr lang="ko-KR" altLang="en-US" baseline="0" dirty="0" err="1"/>
              <a:t>를</a:t>
            </a:r>
            <a:r>
              <a:rPr lang="ko-KR" altLang="en-US" baseline="0" dirty="0"/>
              <a:t> 생성하여 이 </a:t>
            </a:r>
            <a:r>
              <a:rPr lang="en-US" altLang="ko-KR" baseline="0" dirty="0"/>
              <a:t>W </a:t>
            </a:r>
            <a:r>
              <a:rPr lang="en-US" altLang="ko-KR" baseline="0" dirty="0" err="1"/>
              <a:t>i</a:t>
            </a:r>
            <a:r>
              <a:rPr lang="ko-KR" altLang="en-US" baseline="0" dirty="0"/>
              <a:t>와 </a:t>
            </a:r>
            <a:r>
              <a:rPr lang="en-US" altLang="ko-KR" baseline="0" dirty="0"/>
              <a:t>P I </a:t>
            </a:r>
            <a:r>
              <a:rPr lang="ko-KR" altLang="en-US" baseline="0" dirty="0"/>
              <a:t>사이의 </a:t>
            </a:r>
            <a:r>
              <a:rPr lang="ko-KR" altLang="en-US" baseline="0" dirty="0" err="1"/>
              <a:t>엣지</a:t>
            </a:r>
            <a:r>
              <a:rPr lang="ko-KR" altLang="en-US" baseline="0" dirty="0"/>
              <a:t> 하나만을 연결하는 방식으로 그래프를 간소화하고 예측 정확도를 올렸습니다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endParaRPr lang="en-US" altLang="ko-KR" baseline="0" dirty="0"/>
          </a:p>
          <a:p>
            <a:pPr marL="0" indent="0">
              <a:buFontTx/>
              <a:buNone/>
            </a:pPr>
            <a:r>
              <a:rPr lang="ko-KR" altLang="en-US" baseline="0" dirty="0"/>
              <a:t>다음으로 장비 단위로 </a:t>
            </a:r>
            <a:r>
              <a:rPr lang="ko-KR" altLang="en-US" baseline="0" dirty="0" err="1"/>
              <a:t>메쉬를</a:t>
            </a:r>
            <a:r>
              <a:rPr lang="ko-KR" altLang="en-US" baseline="0" dirty="0"/>
              <a:t> 분할하여 입자 경계 </a:t>
            </a:r>
            <a:r>
              <a:rPr lang="ko-KR" altLang="en-US" baseline="0" dirty="0" err="1"/>
              <a:t>엣지를</a:t>
            </a:r>
            <a:r>
              <a:rPr lang="ko-KR" altLang="en-US" baseline="0" dirty="0"/>
              <a:t> 연결하였습니다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전체 장비에 대해서 입자와 가장 가까운 </a:t>
            </a:r>
            <a:r>
              <a:rPr lang="en-US" altLang="ko-KR" baseline="0" dirty="0"/>
              <a:t>k</a:t>
            </a:r>
            <a:r>
              <a:rPr lang="ko-KR" altLang="en-US" baseline="0" dirty="0"/>
              <a:t>개의 </a:t>
            </a:r>
            <a:r>
              <a:rPr lang="ko-KR" altLang="en-US" baseline="0" dirty="0" err="1"/>
              <a:t>엣지를</a:t>
            </a:r>
            <a:r>
              <a:rPr lang="ko-KR" altLang="en-US" baseline="0" dirty="0"/>
              <a:t> 연결할 경우 여러 공정 장비에 대한 상호작용을 동시에 하지 못하고 특정 장비에 대해서만 입자가 정보를 받아올 수 있는 문제점이 있습니다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따라서 전체 장비가 아닌 각 장비별로 일정 개수 만큼의 </a:t>
            </a:r>
            <a:r>
              <a:rPr lang="ko-KR" altLang="en-US" baseline="0" dirty="0" err="1"/>
              <a:t>엣지를</a:t>
            </a:r>
            <a:r>
              <a:rPr lang="ko-KR" altLang="en-US" baseline="0" dirty="0"/>
              <a:t> 연결하였습니다</a:t>
            </a:r>
            <a:r>
              <a:rPr lang="en-US" altLang="ko-KR" baseline="0" dirty="0"/>
              <a:t>. </a:t>
            </a:r>
          </a:p>
          <a:p>
            <a:pPr marL="0" indent="0">
              <a:buFontTx/>
              <a:buNone/>
            </a:pPr>
            <a:r>
              <a:rPr lang="ko-KR" altLang="en-US" baseline="0" dirty="0"/>
              <a:t>현재 예측하려고 하는 도메인의 경우 </a:t>
            </a:r>
            <a:r>
              <a:rPr lang="ko-KR" altLang="en-US" baseline="0" dirty="0" err="1"/>
              <a:t>호퍼와</a:t>
            </a:r>
            <a:r>
              <a:rPr lang="ko-KR" altLang="en-US" baseline="0" dirty="0"/>
              <a:t> 롤러 </a:t>
            </a:r>
            <a:r>
              <a:rPr lang="en-US" altLang="ko-KR" baseline="0" dirty="0"/>
              <a:t>2</a:t>
            </a:r>
            <a:r>
              <a:rPr lang="ko-KR" altLang="en-US" baseline="0" dirty="0"/>
              <a:t>개로 이루어져 있기 때문에 장비를 세 종류로 분할하고 각각의 장비에 대해서 동시에 입자가 상호작용 할 수 있도록 모델링하였습니다</a:t>
            </a:r>
            <a:r>
              <a:rPr lang="en-US" altLang="ko-KR" baseline="0" dirty="0"/>
              <a:t>.</a:t>
            </a:r>
          </a:p>
          <a:p>
            <a:pPr marL="0" indent="0">
              <a:buFontTx/>
              <a:buNone/>
            </a:pP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DCF7AB-FEA3-4FF7-9146-6EBC25463F2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198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21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471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894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6DCDCFAC-B728-4B90-81C1-92F5B31FD119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65140" y="6299072"/>
            <a:ext cx="2844800" cy="238125"/>
          </a:xfr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33742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03C99CC-DF0E-4F2B-B9A4-92D7B83C47C3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65140" y="6299072"/>
            <a:ext cx="2844800" cy="238125"/>
          </a:xfr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40DDB7E-0CDE-4DD2-83AD-975294A2D006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46768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6166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519494" y="4140337"/>
            <a:ext cx="9148507" cy="1860415"/>
          </a:xfrm>
          <a:prstGeom prst="rect">
            <a:avLst/>
          </a:prstGeom>
          <a:solidFill>
            <a:srgbClr val="0F4C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350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 txBox="1">
            <a:spLocks/>
          </p:cNvSpPr>
          <p:nvPr/>
        </p:nvSpPr>
        <p:spPr>
          <a:xfrm>
            <a:off x="1762901" y="2009600"/>
            <a:ext cx="8787695" cy="890081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광폭 전극 제조를 위한 건식 </a:t>
            </a:r>
            <a:r>
              <a:rPr lang="en-US" altLang="ko-KR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Calendering</a:t>
            </a:r>
            <a:r>
              <a:rPr lang="en-US" altLang="ko-KR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공정 시뮬레이션 기술 개발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762900" y="4453142"/>
            <a:ext cx="71917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서울대학교 기계공학부</a:t>
            </a:r>
            <a:r>
              <a:rPr lang="en-US" altLang="ko-K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AI</a:t>
            </a:r>
            <a:r>
              <a:rPr lang="ko-KR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주도 시뮬레이션 및 설계 연구실</a:t>
            </a:r>
            <a:endParaRPr lang="en-US" altLang="ko-K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ko-KR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발표자 </a:t>
            </a:r>
            <a:r>
              <a:rPr lang="en-US" altLang="ko-K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이제홍</a:t>
            </a:r>
            <a:endParaRPr lang="en-US" altLang="ko-K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ko-KR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연구 책임자 </a:t>
            </a:r>
            <a:r>
              <a:rPr lang="en-US" altLang="ko-K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김도년</a:t>
            </a:r>
            <a:endParaRPr lang="en-US" altLang="ko-KR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35B1EBF-2A05-4426-8F1A-50320BD42D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200" y="184883"/>
            <a:ext cx="1320801" cy="58318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D40E94E-DC98-4A42-9BAE-5A69B1C8FC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3389" y="187689"/>
            <a:ext cx="3947601" cy="58038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A9796AF7-12EC-4C1B-B89B-D1503917D962}"/>
              </a:ext>
            </a:extLst>
          </p:cNvPr>
          <p:cNvSpPr/>
          <p:nvPr/>
        </p:nvSpPr>
        <p:spPr>
          <a:xfrm>
            <a:off x="9246235" y="184883"/>
            <a:ext cx="45719" cy="583200"/>
          </a:xfrm>
          <a:prstGeom prst="rect">
            <a:avLst/>
          </a:prstGeom>
          <a:solidFill>
            <a:srgbClr val="C9D0DD"/>
          </a:solidFill>
          <a:ln>
            <a:solidFill>
              <a:srgbClr val="C9D0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7038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/>
        </p:nvCxnSpPr>
        <p:spPr>
          <a:xfrm>
            <a:off x="1524000" y="900000"/>
            <a:ext cx="9144000" cy="0"/>
          </a:xfrm>
          <a:prstGeom prst="line">
            <a:avLst/>
          </a:prstGeom>
          <a:ln w="28575">
            <a:solidFill>
              <a:srgbClr val="2052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1524000" y="0"/>
            <a:ext cx="360000" cy="900000"/>
          </a:xfrm>
          <a:prstGeom prst="rect">
            <a:avLst/>
          </a:prstGeom>
          <a:solidFill>
            <a:srgbClr val="20527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179F4F5-6668-4D8F-8D4F-5D48A16B6C58}"/>
              </a:ext>
            </a:extLst>
          </p:cNvPr>
          <p:cNvSpPr txBox="1"/>
          <p:nvPr/>
        </p:nvSpPr>
        <p:spPr>
          <a:xfrm>
            <a:off x="2064001" y="180001"/>
            <a:ext cx="32832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 &amp; Codes</a:t>
            </a:r>
            <a:endParaRPr lang="ko-KR" altLang="en-US" sz="3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8EA260-19A0-4E82-819C-FCEC968AD4E5}"/>
              </a:ext>
            </a:extLst>
          </p:cNvPr>
          <p:cNvSpPr txBox="1"/>
          <p:nvPr/>
        </p:nvSpPr>
        <p:spPr>
          <a:xfrm>
            <a:off x="1524000" y="1226007"/>
            <a:ext cx="7920508" cy="1442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geo_ele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: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각 </a:t>
            </a:r>
            <a:r>
              <a:rPr lang="ko-KR" altLang="en-US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메쉬를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구성하는 노드의 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id			shape : (</a:t>
            </a:r>
            <a:r>
              <a:rPr lang="en-US" altLang="ko-KR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num_mesh_eles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3)</a:t>
            </a:r>
          </a:p>
          <a:p>
            <a:pPr>
              <a:lnSpc>
                <a:spcPct val="150000"/>
              </a:lnSpc>
            </a:pPr>
            <a:r>
              <a:rPr lang="en-US" altLang="ko-KR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geo_node_type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: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각 </a:t>
            </a:r>
            <a:r>
              <a:rPr lang="ko-KR" altLang="en-US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메쉬가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속한 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equipment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유형		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shape : (</a:t>
            </a:r>
            <a:r>
              <a:rPr lang="en-US" altLang="ko-KR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num_mesh_nodes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,)</a:t>
            </a:r>
          </a:p>
          <a:p>
            <a:pPr>
              <a:lnSpc>
                <a:spcPct val="150000"/>
              </a:lnSpc>
            </a:pPr>
            <a:r>
              <a:rPr lang="en-US" altLang="ko-KR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geo_pos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: </a:t>
            </a:r>
            <a:r>
              <a:rPr lang="ko-KR" altLang="en-US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메쉬를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구성하는 노드들의 좌표		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shape : (T, </a:t>
            </a:r>
            <a:r>
              <a:rPr lang="en-US" altLang="ko-KR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num_mesh_nodes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3)</a:t>
            </a:r>
          </a:p>
          <a:p>
            <a:pPr>
              <a:lnSpc>
                <a:spcPct val="150000"/>
              </a:lnSpc>
            </a:pPr>
            <a:r>
              <a:rPr lang="en-US" altLang="ko-KR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particle_id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: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각 타임스텝에서 존재하는 입자의 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ID		shape : (T, </a:t>
            </a:r>
            <a:r>
              <a:rPr lang="en-US" altLang="ko-KR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num_particles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particle_positions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: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각 타임스텝에서 입자의 위치 좌표	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shape : (T, </a:t>
            </a:r>
            <a:r>
              <a:rPr lang="en-US" altLang="ko-KR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num_particles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3)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FAD908C-0CED-4682-AD3A-4D5F0F832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143" y="1226006"/>
            <a:ext cx="2608174" cy="144281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7579222-315D-4697-86A5-DD59588E7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4143" y="3068364"/>
            <a:ext cx="2608174" cy="21442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5DF24D2-D390-421F-91C2-1C6AD30ACF39}"/>
              </a:ext>
            </a:extLst>
          </p:cNvPr>
          <p:cNvSpPr txBox="1"/>
          <p:nvPr/>
        </p:nvSpPr>
        <p:spPr>
          <a:xfrm>
            <a:off x="1524000" y="3141899"/>
            <a:ext cx="7920508" cy="1997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attributes.py : Training, Testing, optimizer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파라미터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네트워크 파라미터 등</a:t>
            </a: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dataset.py :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데이터 </a:t>
            </a:r>
            <a:r>
              <a:rPr lang="ko-KR" altLang="en-US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로더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DEM to Graph,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테스트 중 데이터 업데이트</a:t>
            </a: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graph_builder.py : DEM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데이터로부터 그래프 생성</a:t>
            </a: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graph_model.py : GNN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모델</a:t>
            </a: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graph_networks.py : GNN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모델에 사용되는 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Neural net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생성</a:t>
            </a: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graph_utils.py :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학습 모니터링이나 로깅 등 다양한 함수</a:t>
            </a: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normalizer.py : Online normalization function.</a:t>
            </a:r>
          </a:p>
        </p:txBody>
      </p:sp>
    </p:spTree>
    <p:extLst>
      <p:ext uri="{BB962C8B-B14F-4D97-AF65-F5344CB8AC3E}">
        <p14:creationId xmlns:p14="http://schemas.microsoft.com/office/powerpoint/2010/main" val="200396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/>
        </p:nvCxnSpPr>
        <p:spPr>
          <a:xfrm>
            <a:off x="1524000" y="900000"/>
            <a:ext cx="9144000" cy="0"/>
          </a:xfrm>
          <a:prstGeom prst="line">
            <a:avLst/>
          </a:prstGeom>
          <a:ln w="28575">
            <a:solidFill>
              <a:srgbClr val="2052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1524000" y="0"/>
            <a:ext cx="360000" cy="900000"/>
          </a:xfrm>
          <a:prstGeom prst="rect">
            <a:avLst/>
          </a:prstGeom>
          <a:solidFill>
            <a:srgbClr val="20527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179F4F5-6668-4D8F-8D4F-5D48A16B6C58}"/>
              </a:ext>
            </a:extLst>
          </p:cNvPr>
          <p:cNvSpPr txBox="1"/>
          <p:nvPr/>
        </p:nvSpPr>
        <p:spPr>
          <a:xfrm>
            <a:off x="2064001" y="180001"/>
            <a:ext cx="28937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graph_main.py</a:t>
            </a:r>
            <a:endParaRPr lang="ko-KR" altLang="en-US" sz="3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5775C3-437C-4A29-9B2C-FB6B6F47C913}"/>
              </a:ext>
            </a:extLst>
          </p:cNvPr>
          <p:cNvSpPr txBox="1"/>
          <p:nvPr/>
        </p:nvSpPr>
        <p:spPr>
          <a:xfrm>
            <a:off x="1584385" y="907692"/>
            <a:ext cx="7920508" cy="5875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train_flag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: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True : Training / False : Testing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one_step_flag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True :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매 스텝 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input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이 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ground truth data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False :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모델의 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output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이 다음 스텝의 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input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roll_out_flag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: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True : attributes.py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에서 설정한 길이까지 예측</a:t>
            </a: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False : Test set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의 길이까지 예측</a:t>
            </a: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rotate_flag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: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True :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학습 시 데이터에 </a:t>
            </a:r>
            <a:r>
              <a:rPr lang="ko-KR" altLang="en-US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랜덤한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회전 부여</a:t>
            </a: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False : Ground Truth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데이터로 학습</a:t>
            </a: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fresh_start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True :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새로운 모델 학습</a:t>
            </a: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False :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기존 모델 </a:t>
            </a:r>
            <a:r>
              <a:rPr lang="ko-KR" altLang="en-US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재학습</a:t>
            </a: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plot_flag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True :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예측 결과 시각화 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/ False :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시각화 없이 예측</a:t>
            </a: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C22560C-2D72-4565-A4DD-394E4A7F8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24017"/>
            <a:ext cx="6011114" cy="378195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488A358-5670-4816-A618-E79DE0105B1D}"/>
              </a:ext>
            </a:extLst>
          </p:cNvPr>
          <p:cNvSpPr/>
          <p:nvPr/>
        </p:nvSpPr>
        <p:spPr>
          <a:xfrm>
            <a:off x="6096000" y="1388853"/>
            <a:ext cx="1659147" cy="3364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DBCD6DF-8C0D-4AE6-80D0-71863486FDBA}"/>
              </a:ext>
            </a:extLst>
          </p:cNvPr>
          <p:cNvSpPr/>
          <p:nvPr/>
        </p:nvSpPr>
        <p:spPr>
          <a:xfrm>
            <a:off x="6095999" y="2109066"/>
            <a:ext cx="1659147" cy="1769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8632C1E-619A-4DD8-A546-C2E3418A06AA}"/>
              </a:ext>
            </a:extLst>
          </p:cNvPr>
          <p:cNvSpPr/>
          <p:nvPr/>
        </p:nvSpPr>
        <p:spPr>
          <a:xfrm>
            <a:off x="6095998" y="4037162"/>
            <a:ext cx="1659147" cy="2587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1EEA909-48F7-4700-8490-B03770D5EBA1}"/>
              </a:ext>
            </a:extLst>
          </p:cNvPr>
          <p:cNvSpPr/>
          <p:nvPr/>
        </p:nvSpPr>
        <p:spPr>
          <a:xfrm>
            <a:off x="6095997" y="4429663"/>
            <a:ext cx="1659147" cy="5839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F3E10B-4C57-4BC5-BEB1-AEA29D4B2C18}"/>
              </a:ext>
            </a:extLst>
          </p:cNvPr>
          <p:cNvSpPr txBox="1"/>
          <p:nvPr/>
        </p:nvSpPr>
        <p:spPr>
          <a:xfrm>
            <a:off x="6095997" y="4969655"/>
            <a:ext cx="2935857" cy="1166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Device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원하는 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device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종류</a:t>
            </a: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X_BOUND, Y_BOUND, Z_BOUND: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예측 도메인 범위 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(mm)</a:t>
            </a:r>
          </a:p>
        </p:txBody>
      </p:sp>
    </p:spTree>
    <p:extLst>
      <p:ext uri="{BB962C8B-B14F-4D97-AF65-F5344CB8AC3E}">
        <p14:creationId xmlns:p14="http://schemas.microsoft.com/office/powerpoint/2010/main" val="1463715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/>
        </p:nvCxnSpPr>
        <p:spPr>
          <a:xfrm>
            <a:off x="1524000" y="900000"/>
            <a:ext cx="9144000" cy="0"/>
          </a:xfrm>
          <a:prstGeom prst="line">
            <a:avLst/>
          </a:prstGeom>
          <a:ln w="28575">
            <a:solidFill>
              <a:srgbClr val="2052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1524000" y="0"/>
            <a:ext cx="360000" cy="900000"/>
          </a:xfrm>
          <a:prstGeom prst="rect">
            <a:avLst/>
          </a:prstGeom>
          <a:solidFill>
            <a:srgbClr val="20527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179F4F5-6668-4D8F-8D4F-5D48A16B6C58}"/>
              </a:ext>
            </a:extLst>
          </p:cNvPr>
          <p:cNvSpPr txBox="1"/>
          <p:nvPr/>
        </p:nvSpPr>
        <p:spPr>
          <a:xfrm>
            <a:off x="2064001" y="180001"/>
            <a:ext cx="28937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graph_main.py</a:t>
            </a:r>
            <a:endParaRPr lang="ko-KR" altLang="en-US" sz="3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E95459E-74D5-4542-966C-C9F4D9AA1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573" y="1323684"/>
            <a:ext cx="4496427" cy="9526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9D2EF8-9783-4600-83F1-0F44D7AEA1D9}"/>
              </a:ext>
            </a:extLst>
          </p:cNvPr>
          <p:cNvSpPr txBox="1"/>
          <p:nvPr/>
        </p:nvSpPr>
        <p:spPr>
          <a:xfrm>
            <a:off x="1524000" y="1328942"/>
            <a:ext cx="7920508" cy="33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test_network_path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: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모델 파일 경로</a:t>
            </a: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89311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/>
        </p:nvCxnSpPr>
        <p:spPr>
          <a:xfrm>
            <a:off x="1524000" y="900000"/>
            <a:ext cx="9144000" cy="0"/>
          </a:xfrm>
          <a:prstGeom prst="line">
            <a:avLst/>
          </a:prstGeom>
          <a:ln w="28575">
            <a:solidFill>
              <a:srgbClr val="2052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1524000" y="0"/>
            <a:ext cx="360000" cy="900000"/>
          </a:xfrm>
          <a:prstGeom prst="rect">
            <a:avLst/>
          </a:prstGeom>
          <a:solidFill>
            <a:srgbClr val="20527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179F4F5-6668-4D8F-8D4F-5D48A16B6C58}"/>
              </a:ext>
            </a:extLst>
          </p:cNvPr>
          <p:cNvSpPr txBox="1"/>
          <p:nvPr/>
        </p:nvSpPr>
        <p:spPr>
          <a:xfrm>
            <a:off x="2064001" y="180001"/>
            <a:ext cx="24160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attributes.py</a:t>
            </a:r>
            <a:endParaRPr lang="ko-KR" altLang="en-US" sz="3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0A0CB28-B728-4462-8AB4-BCA0A143E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39892"/>
            <a:ext cx="2772162" cy="15146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4AD4A0-05E7-478B-9727-A15F9E353A38}"/>
              </a:ext>
            </a:extLst>
          </p:cNvPr>
          <p:cNvSpPr txBox="1"/>
          <p:nvPr/>
        </p:nvSpPr>
        <p:spPr>
          <a:xfrm>
            <a:off x="1524000" y="1139891"/>
            <a:ext cx="7920508" cy="1443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test_length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: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예측하고자 하는 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timestep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길이</a:t>
            </a: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test_sequence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: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예측하고자 하는 파일 </a:t>
            </a:r>
            <a:r>
              <a:rPr lang="en-US" altLang="ko-KR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idx</a:t>
            </a: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ds_path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: training, testing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데이터 셋이 존재하는 파일 경로</a:t>
            </a: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training_path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: training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데이터 셋 파일명</a:t>
            </a: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testing_path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: testing </a:t>
            </a:r>
            <a:r>
              <a:rPr lang="ko-KR" altLang="en-US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데이터 셋 파일명</a:t>
            </a: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90304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/>
        </p:nvCxnSpPr>
        <p:spPr>
          <a:xfrm>
            <a:off x="1524000" y="900000"/>
            <a:ext cx="9144000" cy="0"/>
          </a:xfrm>
          <a:prstGeom prst="line">
            <a:avLst/>
          </a:prstGeom>
          <a:ln w="28575">
            <a:solidFill>
              <a:srgbClr val="2052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1524000" y="0"/>
            <a:ext cx="360000" cy="900000"/>
          </a:xfrm>
          <a:prstGeom prst="rect">
            <a:avLst/>
          </a:prstGeom>
          <a:solidFill>
            <a:srgbClr val="20527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F8FF8B5-C845-4D4A-BB55-3E405D81911D}"/>
              </a:ext>
            </a:extLst>
          </p:cNvPr>
          <p:cNvSpPr/>
          <p:nvPr/>
        </p:nvSpPr>
        <p:spPr>
          <a:xfrm>
            <a:off x="1630436" y="1373892"/>
            <a:ext cx="72000" cy="360000"/>
          </a:xfrm>
          <a:prstGeom prst="rect">
            <a:avLst/>
          </a:prstGeom>
          <a:solidFill>
            <a:srgbClr val="FF572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82A246-B166-425E-8ABC-6E3B30954F63}"/>
              </a:ext>
            </a:extLst>
          </p:cNvPr>
          <p:cNvSpPr txBox="1"/>
          <p:nvPr/>
        </p:nvSpPr>
        <p:spPr>
          <a:xfrm>
            <a:off x="1524000" y="959906"/>
            <a:ext cx="19061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0329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□ </a:t>
            </a:r>
            <a:r>
              <a:rPr lang="en-US" altLang="ko-KR" sz="1600" dirty="0">
                <a:solidFill>
                  <a:srgbClr val="0329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dataset</a:t>
            </a:r>
            <a:endParaRPr lang="ko-KR" altLang="en-US" sz="1600" dirty="0">
              <a:solidFill>
                <a:srgbClr val="0329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442C1E-C94A-49C5-A722-D9B4E3DE8B21}"/>
              </a:ext>
            </a:extLst>
          </p:cNvPr>
          <p:cNvSpPr txBox="1"/>
          <p:nvPr/>
        </p:nvSpPr>
        <p:spPr>
          <a:xfrm>
            <a:off x="1856401" y="1239331"/>
            <a:ext cx="7920508" cy="5598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Hopper</a:t>
            </a: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Height	H = 10mm</a:t>
            </a: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Width	W = 2mm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Roller</a:t>
            </a: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Diameter	D = 25, 30, 35mm</a:t>
            </a: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Width	W = 2mm</a:t>
            </a: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Velocity	v</a:t>
            </a:r>
            <a:r>
              <a:rPr lang="en-US" altLang="ko-KR" sz="1200" baseline="-250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= 1m/min, v</a:t>
            </a:r>
            <a:r>
              <a:rPr lang="en-US" altLang="ko-KR" sz="1200" baseline="-250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= 1m/min ~ 2m/min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Particle properties</a:t>
            </a: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Diameter		d = 0.125, 0.25, 0.375mm</a:t>
            </a: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Density		</a:t>
            </a:r>
            <a:r>
              <a:rPr lang="el-GR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ρ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= 1000kg/m</a:t>
            </a:r>
            <a:r>
              <a:rPr lang="en-US" altLang="ko-KR" sz="1200" baseline="300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</a:t>
            </a: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Poisson ratio		</a:t>
            </a:r>
            <a:r>
              <a:rPr lang="el-GR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ν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= 0.25</a:t>
            </a: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Coefficient of restitution	e = 0.4</a:t>
            </a: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Young’s modulus		E = 3MPa</a:t>
            </a: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Coefficient of static friction	</a:t>
            </a:r>
            <a:r>
              <a:rPr lang="el-GR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μ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= 0.4</a:t>
            </a: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Coefficient of rolling friction	</a:t>
            </a:r>
            <a:r>
              <a:rPr lang="el-GR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μ</a:t>
            </a:r>
            <a:r>
              <a:rPr lang="en-US" altLang="ko-KR" sz="1200" baseline="-250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</a:t>
            </a: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= 0.001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Others</a:t>
            </a: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Number of particles	N = 1813, 2024, 2502</a:t>
            </a: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 step (calculation)	dt = 0.00001</a:t>
            </a: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Time step (dataset)	dt = 0.0025</a:t>
            </a:r>
          </a:p>
          <a:p>
            <a:pPr marL="628650" lvl="1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Simulation time		T = ~ 213.151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1BA141-CD3F-4C67-AD0D-F4D578C0BF92}"/>
              </a:ext>
            </a:extLst>
          </p:cNvPr>
          <p:cNvSpPr txBox="1"/>
          <p:nvPr/>
        </p:nvSpPr>
        <p:spPr>
          <a:xfrm>
            <a:off x="2064001" y="180001"/>
            <a:ext cx="38683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Various Particle size</a:t>
            </a:r>
            <a:endParaRPr lang="ko-KR" altLang="en-US" sz="3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rocess_x">
            <a:hlinkClick r:id="" action="ppaction://media"/>
            <a:extLst>
              <a:ext uri="{FF2B5EF4-FFF2-40B4-BE49-F238E27FC236}">
                <a16:creationId xmlns:a16="http://schemas.microsoft.com/office/drawing/2014/main" id="{ADCEF11E-AA53-4581-ACD5-7ED63400BEA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574218" y="1024401"/>
            <a:ext cx="5081600" cy="28584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BFFB0A1-7341-42E2-A9E2-CA69968BD5DB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418" y="3882801"/>
            <a:ext cx="5083200" cy="28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403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/>
        </p:nvCxnSpPr>
        <p:spPr>
          <a:xfrm>
            <a:off x="1524000" y="900000"/>
            <a:ext cx="9144000" cy="0"/>
          </a:xfrm>
          <a:prstGeom prst="line">
            <a:avLst/>
          </a:prstGeom>
          <a:ln w="28575">
            <a:solidFill>
              <a:srgbClr val="2052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1524000" y="0"/>
            <a:ext cx="360000" cy="900000"/>
          </a:xfrm>
          <a:prstGeom prst="rect">
            <a:avLst/>
          </a:prstGeom>
          <a:solidFill>
            <a:srgbClr val="20527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6966B20-E25F-4B74-B4E8-F543BC068FA3}"/>
              </a:ext>
            </a:extLst>
          </p:cNvPr>
          <p:cNvSpPr/>
          <p:nvPr/>
        </p:nvSpPr>
        <p:spPr>
          <a:xfrm>
            <a:off x="1630436" y="1763681"/>
            <a:ext cx="72000" cy="360000"/>
          </a:xfrm>
          <a:prstGeom prst="rect">
            <a:avLst/>
          </a:prstGeom>
          <a:solidFill>
            <a:srgbClr val="FF572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8136FD-D979-47C6-9E6A-04362FA2737A}"/>
              </a:ext>
            </a:extLst>
          </p:cNvPr>
          <p:cNvSpPr txBox="1"/>
          <p:nvPr/>
        </p:nvSpPr>
        <p:spPr>
          <a:xfrm>
            <a:off x="1524000" y="1349695"/>
            <a:ext cx="52277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0329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□ </a:t>
            </a:r>
            <a:r>
              <a:rPr lang="en-US" altLang="ko-KR" sz="2000" dirty="0">
                <a:solidFill>
                  <a:srgbClr val="0329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Modification of Contact Distance Criterion</a:t>
            </a:r>
            <a:endParaRPr lang="ko-KR" altLang="en-US" sz="2000" dirty="0">
              <a:solidFill>
                <a:srgbClr val="0329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AD0C5BC-CFD4-4EE7-AACA-7C3BE6E293C6}"/>
                  </a:ext>
                </a:extLst>
              </p:cNvPr>
              <p:cNvSpPr txBox="1"/>
              <p:nvPr/>
            </p:nvSpPr>
            <p:spPr>
              <a:xfrm>
                <a:off x="1856401" y="1629120"/>
                <a:ext cx="7920508" cy="8275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ko-KR" altLang="en-US" sz="1600" dirty="0">
                    <a:solidFill>
                      <a:srgbClr val="17445B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기존 </a:t>
                </a:r>
                <a:r>
                  <a:rPr lang="en-US" altLang="ko-KR" sz="1600" dirty="0">
                    <a:solidFill>
                      <a:srgbClr val="17445B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Contact distance :</a:t>
                </a:r>
                <a:r>
                  <a:rPr lang="en-US" altLang="ko-KR" sz="1600" dirty="0">
                    <a:solidFill>
                      <a:srgbClr val="17445B"/>
                    </a:solidFill>
                    <a:cs typeface="Arial" panose="020B0604020202020204" pitchFamily="34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solidFill>
                          <a:srgbClr val="17445B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3</m:t>
                    </m:r>
                    <m:r>
                      <a:rPr lang="en-US" altLang="ko-KR" sz="1600" i="1">
                        <a:solidFill>
                          <a:srgbClr val="17445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×(2</m:t>
                    </m:r>
                    <m:r>
                      <a:rPr lang="en-US" altLang="ko-KR" sz="1600" i="1">
                        <a:solidFill>
                          <a:srgbClr val="17445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𝑟</m:t>
                    </m:r>
                    <m:r>
                      <a:rPr lang="en-US" altLang="ko-KR" sz="1600" b="0" i="1" smtClean="0">
                        <a:solidFill>
                          <a:srgbClr val="17445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ko-KR" sz="1600" dirty="0">
                  <a:solidFill>
                    <a:srgbClr val="17445B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ko-KR" altLang="en-US" sz="1600" dirty="0">
                    <a:solidFill>
                      <a:srgbClr val="17445B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변경된 </a:t>
                </a:r>
                <a:r>
                  <a:rPr lang="en-US" altLang="ko-KR" sz="1600" dirty="0">
                    <a:solidFill>
                      <a:srgbClr val="17445B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Contact distance : 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solidFill>
                          <a:srgbClr val="17445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4</m:t>
                    </m:r>
                    <m:r>
                      <a:rPr lang="en-US" altLang="ko-KR" sz="1600" b="0" i="1" smtClean="0">
                        <a:solidFill>
                          <a:srgbClr val="17445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×(</m:t>
                    </m:r>
                    <m:sSub>
                      <m:sSubPr>
                        <m:ctrlPr>
                          <a:rPr lang="en-US" altLang="ko-KR" sz="1600" b="0" i="1" smtClean="0">
                            <a:solidFill>
                              <a:srgbClr val="17445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solidFill>
                              <a:srgbClr val="17445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rgbClr val="17445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en-US" altLang="ko-KR" sz="1600" b="0" i="1" smtClean="0">
                        <a:solidFill>
                          <a:srgbClr val="17445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+</m:t>
                    </m:r>
                    <m:sSub>
                      <m:sSubPr>
                        <m:ctrlPr>
                          <a:rPr lang="en-US" altLang="ko-KR" sz="1600" b="0" i="1" smtClean="0">
                            <a:solidFill>
                              <a:srgbClr val="17445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solidFill>
                              <a:srgbClr val="17445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rgbClr val="17445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𝑗</m:t>
                        </m:r>
                      </m:sub>
                    </m:sSub>
                    <m:r>
                      <a:rPr lang="en-US" altLang="ko-KR" sz="1600" b="0" i="1" smtClean="0">
                        <a:solidFill>
                          <a:srgbClr val="17445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ko-KR" sz="1200" dirty="0">
                  <a:solidFill>
                    <a:srgbClr val="17445B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AD0C5BC-CFD4-4EE7-AACA-7C3BE6E29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01" y="1629120"/>
                <a:ext cx="7920508" cy="827534"/>
              </a:xfrm>
              <a:prstGeom prst="rect">
                <a:avLst/>
              </a:prstGeom>
              <a:blipFill>
                <a:blip r:embed="rId3"/>
                <a:stretch>
                  <a:fillRect l="-308" b="-58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6179F4F5-6668-4D8F-8D4F-5D48A16B6C58}"/>
              </a:ext>
            </a:extLst>
          </p:cNvPr>
          <p:cNvSpPr txBox="1"/>
          <p:nvPr/>
        </p:nvSpPr>
        <p:spPr>
          <a:xfrm>
            <a:off x="2064001" y="180001"/>
            <a:ext cx="38683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Various Particle size</a:t>
            </a:r>
            <a:endParaRPr lang="ko-KR" altLang="en-US" sz="3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A4F7E532-36B2-4FCE-AC55-1EC69BF6C26B}"/>
              </a:ext>
            </a:extLst>
          </p:cNvPr>
          <p:cNvGrpSpPr/>
          <p:nvPr/>
        </p:nvGrpSpPr>
        <p:grpSpPr>
          <a:xfrm>
            <a:off x="2386502" y="3188088"/>
            <a:ext cx="3211772" cy="1994845"/>
            <a:chOff x="2784143" y="1378425"/>
            <a:chExt cx="3211772" cy="1994845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C2904130-CB59-4680-B48C-CCA26020A0DB}"/>
                </a:ext>
              </a:extLst>
            </p:cNvPr>
            <p:cNvSpPr/>
            <p:nvPr/>
          </p:nvSpPr>
          <p:spPr>
            <a:xfrm>
              <a:off x="2784143" y="1965278"/>
              <a:ext cx="586853" cy="58685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A252AA25-6AAA-4BD2-A15E-5A65A3EAD271}"/>
                </a:ext>
              </a:extLst>
            </p:cNvPr>
            <p:cNvSpPr/>
            <p:nvPr/>
          </p:nvSpPr>
          <p:spPr>
            <a:xfrm>
              <a:off x="4219432" y="2786417"/>
              <a:ext cx="586853" cy="58685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608E3436-DE58-47FA-992B-8B80FB6E81E5}"/>
                </a:ext>
              </a:extLst>
            </p:cNvPr>
            <p:cNvSpPr/>
            <p:nvPr/>
          </p:nvSpPr>
          <p:spPr>
            <a:xfrm>
              <a:off x="5409062" y="1378425"/>
              <a:ext cx="586853" cy="5868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D2128EA4-B772-41DF-8643-F4E18DDF2552}"/>
                    </a:ext>
                  </a:extLst>
                </p:cNvPr>
                <p:cNvSpPr txBox="1"/>
                <p:nvPr/>
              </p:nvSpPr>
              <p:spPr>
                <a:xfrm>
                  <a:off x="2892644" y="2125686"/>
                  <a:ext cx="369850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ko-KR" altLang="en-US" sz="2000" dirty="0"/>
                </a:p>
              </p:txBody>
            </p:sp>
          </mc:Choice>
          <mc:Fallback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D2128EA4-B772-41DF-8643-F4E18DDF25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2644" y="2125686"/>
                  <a:ext cx="369850" cy="246221"/>
                </a:xfrm>
                <a:prstGeom prst="rect">
                  <a:avLst/>
                </a:prstGeom>
                <a:blipFill>
                  <a:blip r:embed="rId4"/>
                  <a:stretch>
                    <a:fillRect b="-22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3E96846C-EC5B-4034-8A6A-011BF0B3240C}"/>
                    </a:ext>
                  </a:extLst>
                </p:cNvPr>
                <p:cNvSpPr txBox="1"/>
                <p:nvPr/>
              </p:nvSpPr>
              <p:spPr>
                <a:xfrm>
                  <a:off x="4327933" y="2946825"/>
                  <a:ext cx="369850" cy="26603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ko-KR" altLang="en-US" sz="2000" dirty="0"/>
                </a:p>
              </p:txBody>
            </p:sp>
          </mc:Choice>
          <mc:Fallback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3E96846C-EC5B-4034-8A6A-011BF0B324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7933" y="2946825"/>
                  <a:ext cx="369850" cy="266035"/>
                </a:xfrm>
                <a:prstGeom prst="rect">
                  <a:avLst/>
                </a:prstGeom>
                <a:blipFill>
                  <a:blip r:embed="rId5"/>
                  <a:stretch>
                    <a:fillRect b="-2727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C5F6C90C-7F98-4518-8CE4-CDF84954172B}"/>
                    </a:ext>
                  </a:extLst>
                </p:cNvPr>
                <p:cNvSpPr txBox="1"/>
                <p:nvPr/>
              </p:nvSpPr>
              <p:spPr>
                <a:xfrm>
                  <a:off x="5517563" y="1538833"/>
                  <a:ext cx="369850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ko-KR" altLang="en-US" sz="2000" dirty="0"/>
                </a:p>
              </p:txBody>
            </p:sp>
          </mc:Choice>
          <mc:Fallback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C5F6C90C-7F98-4518-8CE4-CDF8495417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7563" y="1538833"/>
                  <a:ext cx="369850" cy="246221"/>
                </a:xfrm>
                <a:prstGeom prst="rect">
                  <a:avLst/>
                </a:prstGeom>
                <a:blipFill>
                  <a:blip r:embed="rId6"/>
                  <a:stretch>
                    <a:fillRect b="-1951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4B92A9D5-4940-4089-A79D-9EEDC9D9672D}"/>
                </a:ext>
              </a:extLst>
            </p:cNvPr>
            <p:cNvCxnSpPr>
              <a:cxnSpLocks/>
              <a:stCxn id="64" idx="5"/>
              <a:endCxn id="65" idx="2"/>
            </p:cNvCxnSpPr>
            <p:nvPr/>
          </p:nvCxnSpPr>
          <p:spPr>
            <a:xfrm>
              <a:off x="3285053" y="2466188"/>
              <a:ext cx="934379" cy="613656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005A3546-60A7-4577-AA3D-691C6B396F76}"/>
                </a:ext>
              </a:extLst>
            </p:cNvPr>
            <p:cNvCxnSpPr>
              <a:cxnSpLocks/>
              <a:stCxn id="64" idx="7"/>
              <a:endCxn id="66" idx="2"/>
            </p:cNvCxnSpPr>
            <p:nvPr/>
          </p:nvCxnSpPr>
          <p:spPr>
            <a:xfrm flipV="1">
              <a:off x="3285053" y="1671852"/>
              <a:ext cx="2124009" cy="379369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90" name="곱하기 기호 89">
              <a:extLst>
                <a:ext uri="{FF2B5EF4-FFF2-40B4-BE49-F238E27FC236}">
                  <a16:creationId xmlns:a16="http://schemas.microsoft.com/office/drawing/2014/main" id="{1B8EF70D-2D58-4DAB-84B4-E3F878C829C3}"/>
                </a:ext>
              </a:extLst>
            </p:cNvPr>
            <p:cNvSpPr/>
            <p:nvPr/>
          </p:nvSpPr>
          <p:spPr>
            <a:xfrm>
              <a:off x="4053631" y="1568109"/>
              <a:ext cx="586853" cy="586853"/>
            </a:xfrm>
            <a:prstGeom prst="mathMultiply">
              <a:avLst>
                <a:gd name="adj1" fmla="val 11761"/>
              </a:avLst>
            </a:prstGeom>
            <a:solidFill>
              <a:srgbClr val="FF0000"/>
            </a:solidFill>
            <a:ln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58FC6FFE-29FB-4058-B27B-BC3AC602DD62}"/>
              </a:ext>
            </a:extLst>
          </p:cNvPr>
          <p:cNvGrpSpPr/>
          <p:nvPr/>
        </p:nvGrpSpPr>
        <p:grpSpPr>
          <a:xfrm>
            <a:off x="7180581" y="2695889"/>
            <a:ext cx="3335005" cy="2478919"/>
            <a:chOff x="4858813" y="2771112"/>
            <a:chExt cx="3335005" cy="2478919"/>
          </a:xfrm>
        </p:grpSpPr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815A4840-5EE4-4D5B-981A-74CDC7B70EE5}"/>
                </a:ext>
              </a:extLst>
            </p:cNvPr>
            <p:cNvSpPr/>
            <p:nvPr/>
          </p:nvSpPr>
          <p:spPr>
            <a:xfrm>
              <a:off x="4858813" y="3966111"/>
              <a:ext cx="586853" cy="58685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F656D6ED-BD55-475B-98CE-124A0E12ABBE}"/>
                    </a:ext>
                  </a:extLst>
                </p:cNvPr>
                <p:cNvSpPr txBox="1"/>
                <p:nvPr/>
              </p:nvSpPr>
              <p:spPr>
                <a:xfrm>
                  <a:off x="4967314" y="4136426"/>
                  <a:ext cx="369850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ko-KR" altLang="en-US" sz="2000" dirty="0"/>
                </a:p>
              </p:txBody>
            </p:sp>
          </mc:Choice>
          <mc:Fallback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F656D6ED-BD55-475B-98CE-124A0E12AB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7314" y="4136426"/>
                  <a:ext cx="369850" cy="246221"/>
                </a:xfrm>
                <a:prstGeom prst="rect">
                  <a:avLst/>
                </a:prstGeom>
                <a:blipFill>
                  <a:blip r:embed="rId7"/>
                  <a:stretch>
                    <a:fillRect b="-1951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B4115B36-A67A-40C4-B927-A7E434255575}"/>
                </a:ext>
              </a:extLst>
            </p:cNvPr>
            <p:cNvSpPr/>
            <p:nvPr/>
          </p:nvSpPr>
          <p:spPr>
            <a:xfrm>
              <a:off x="6402603" y="4943042"/>
              <a:ext cx="306989" cy="30698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9B892B0B-F73C-4742-AE40-4254006A6708}"/>
                </a:ext>
              </a:extLst>
            </p:cNvPr>
            <p:cNvSpPr/>
            <p:nvPr/>
          </p:nvSpPr>
          <p:spPr>
            <a:xfrm>
              <a:off x="7368455" y="3311063"/>
              <a:ext cx="825363" cy="82536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433028AD-CC35-4A3A-9306-E8C40534434E}"/>
                    </a:ext>
                  </a:extLst>
                </p:cNvPr>
                <p:cNvSpPr txBox="1"/>
                <p:nvPr/>
              </p:nvSpPr>
              <p:spPr>
                <a:xfrm>
                  <a:off x="6371172" y="4963518"/>
                  <a:ext cx="369850" cy="26603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ko-KR" altLang="en-US" sz="2000" dirty="0"/>
                </a:p>
              </p:txBody>
            </p:sp>
          </mc:Choice>
          <mc:Fallback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433028AD-CC35-4A3A-9306-E8C4053443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1172" y="4963518"/>
                  <a:ext cx="369850" cy="266035"/>
                </a:xfrm>
                <a:prstGeom prst="rect">
                  <a:avLst/>
                </a:prstGeom>
                <a:blipFill>
                  <a:blip r:embed="rId8"/>
                  <a:stretch>
                    <a:fillRect b="-2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4BE5C3B-F294-4D5C-A32D-BED3CEF0FBEF}"/>
                    </a:ext>
                  </a:extLst>
                </p:cNvPr>
                <p:cNvSpPr txBox="1"/>
                <p:nvPr/>
              </p:nvSpPr>
              <p:spPr>
                <a:xfrm>
                  <a:off x="7626126" y="3590726"/>
                  <a:ext cx="369850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ko-KR" altLang="en-US" sz="2000" dirty="0"/>
                </a:p>
              </p:txBody>
            </p:sp>
          </mc:Choice>
          <mc:Fallback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4BE5C3B-F294-4D5C-A32D-BED3CEF0FB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6126" y="3590726"/>
                  <a:ext cx="369850" cy="246221"/>
                </a:xfrm>
                <a:prstGeom prst="rect">
                  <a:avLst/>
                </a:prstGeom>
                <a:blipFill>
                  <a:blip r:embed="rId9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E7011E38-5789-4EC7-84BC-79DB5A52DA06}"/>
                </a:ext>
              </a:extLst>
            </p:cNvPr>
            <p:cNvSpPr/>
            <p:nvPr/>
          </p:nvSpPr>
          <p:spPr>
            <a:xfrm>
              <a:off x="7030036" y="2771112"/>
              <a:ext cx="306989" cy="306989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C4F2BD7A-BA95-492B-A9FE-ABC2BE5F9F57}"/>
                    </a:ext>
                  </a:extLst>
                </p:cNvPr>
                <p:cNvSpPr txBox="1"/>
                <p:nvPr/>
              </p:nvSpPr>
              <p:spPr>
                <a:xfrm>
                  <a:off x="6998605" y="2791588"/>
                  <a:ext cx="369850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ko-KR" altLang="en-US" sz="2000" dirty="0"/>
                </a:p>
              </p:txBody>
            </p:sp>
          </mc:Choice>
          <mc:Fallback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C4F2BD7A-BA95-492B-A9FE-ABC2BE5F9F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8605" y="2791588"/>
                  <a:ext cx="369850" cy="246221"/>
                </a:xfrm>
                <a:prstGeom prst="rect">
                  <a:avLst/>
                </a:prstGeom>
                <a:blipFill>
                  <a:blip r:embed="rId10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8DC59F03-7934-422E-A543-0B9A2FFB25AD}"/>
                </a:ext>
              </a:extLst>
            </p:cNvPr>
            <p:cNvCxnSpPr>
              <a:cxnSpLocks/>
              <a:stCxn id="92" idx="5"/>
              <a:endCxn id="96" idx="1"/>
            </p:cNvCxnSpPr>
            <p:nvPr/>
          </p:nvCxnSpPr>
          <p:spPr>
            <a:xfrm>
              <a:off x="5359723" y="4467021"/>
              <a:ext cx="1011449" cy="629515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1" name="직선 연결선 100">
              <a:extLst>
                <a:ext uri="{FF2B5EF4-FFF2-40B4-BE49-F238E27FC236}">
                  <a16:creationId xmlns:a16="http://schemas.microsoft.com/office/drawing/2014/main" id="{A38E6B02-7E48-4F50-9389-BC46235A1E96}"/>
                </a:ext>
              </a:extLst>
            </p:cNvPr>
            <p:cNvCxnSpPr>
              <a:cxnSpLocks/>
              <a:stCxn id="92" idx="6"/>
              <a:endCxn id="95" idx="2"/>
            </p:cNvCxnSpPr>
            <p:nvPr/>
          </p:nvCxnSpPr>
          <p:spPr>
            <a:xfrm flipV="1">
              <a:off x="5445666" y="3723745"/>
              <a:ext cx="1922789" cy="535793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F24A47BF-6973-49D7-AD1B-FC9E57208695}"/>
                </a:ext>
              </a:extLst>
            </p:cNvPr>
            <p:cNvCxnSpPr>
              <a:cxnSpLocks/>
              <a:stCxn id="92" idx="7"/>
              <a:endCxn id="98" idx="3"/>
            </p:cNvCxnSpPr>
            <p:nvPr/>
          </p:nvCxnSpPr>
          <p:spPr>
            <a:xfrm flipV="1">
              <a:off x="5359723" y="3033144"/>
              <a:ext cx="1715270" cy="101891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03" name="곱하기 기호 102">
              <a:extLst>
                <a:ext uri="{FF2B5EF4-FFF2-40B4-BE49-F238E27FC236}">
                  <a16:creationId xmlns:a16="http://schemas.microsoft.com/office/drawing/2014/main" id="{DAB81FD9-36B0-43DB-885C-536F69C625EC}"/>
                </a:ext>
              </a:extLst>
            </p:cNvPr>
            <p:cNvSpPr/>
            <p:nvPr/>
          </p:nvSpPr>
          <p:spPr>
            <a:xfrm>
              <a:off x="6000675" y="3212882"/>
              <a:ext cx="586853" cy="586853"/>
            </a:xfrm>
            <a:prstGeom prst="mathMultiply">
              <a:avLst>
                <a:gd name="adj1" fmla="val 11761"/>
              </a:avLst>
            </a:prstGeom>
            <a:solidFill>
              <a:srgbClr val="FF0000"/>
            </a:solidFill>
            <a:ln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7D60AE1F-114D-4176-A3E1-58B86ECFEB34}"/>
              </a:ext>
            </a:extLst>
          </p:cNvPr>
          <p:cNvSpPr/>
          <p:nvPr/>
        </p:nvSpPr>
        <p:spPr>
          <a:xfrm>
            <a:off x="2953105" y="5304474"/>
            <a:ext cx="195438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9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&lt;Case 1 : Fixed Contact distance&gt;</a:t>
            </a:r>
            <a:endParaRPr lang="ko-KR" altLang="en-US" sz="900" dirty="0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DDCFD186-D053-4CB8-92FF-9DA744E0DB18}"/>
              </a:ext>
            </a:extLst>
          </p:cNvPr>
          <p:cNvSpPr/>
          <p:nvPr/>
        </p:nvSpPr>
        <p:spPr>
          <a:xfrm>
            <a:off x="7874397" y="5304474"/>
            <a:ext cx="206979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9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&lt;Case 2 : Flexible Contact distance&gt;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426259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/>
        </p:nvCxnSpPr>
        <p:spPr>
          <a:xfrm>
            <a:off x="1524000" y="900000"/>
            <a:ext cx="9144000" cy="0"/>
          </a:xfrm>
          <a:prstGeom prst="line">
            <a:avLst/>
          </a:prstGeom>
          <a:ln w="28575">
            <a:solidFill>
              <a:srgbClr val="2052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1524000" y="0"/>
            <a:ext cx="360000" cy="900000"/>
          </a:xfrm>
          <a:prstGeom prst="rect">
            <a:avLst/>
          </a:prstGeom>
          <a:solidFill>
            <a:srgbClr val="20527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6966B20-E25F-4B74-B4E8-F543BC068FA3}"/>
              </a:ext>
            </a:extLst>
          </p:cNvPr>
          <p:cNvSpPr/>
          <p:nvPr/>
        </p:nvSpPr>
        <p:spPr>
          <a:xfrm>
            <a:off x="1630436" y="1763681"/>
            <a:ext cx="72000" cy="360000"/>
          </a:xfrm>
          <a:prstGeom prst="rect">
            <a:avLst/>
          </a:prstGeom>
          <a:solidFill>
            <a:srgbClr val="FF572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8136FD-D979-47C6-9E6A-04362FA2737A}"/>
              </a:ext>
            </a:extLst>
          </p:cNvPr>
          <p:cNvSpPr txBox="1"/>
          <p:nvPr/>
        </p:nvSpPr>
        <p:spPr>
          <a:xfrm>
            <a:off x="1524000" y="1349695"/>
            <a:ext cx="46783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0329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□ </a:t>
            </a:r>
            <a:r>
              <a:rPr lang="en-US" altLang="ko-KR" sz="2000" dirty="0">
                <a:solidFill>
                  <a:srgbClr val="0329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Strategy 1 : Separation of node type</a:t>
            </a:r>
            <a:endParaRPr lang="ko-KR" altLang="en-US" sz="2000" dirty="0">
              <a:solidFill>
                <a:srgbClr val="0329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D0C5BC-CFD4-4EE7-AACA-7C3BE6E293C6}"/>
              </a:ext>
            </a:extLst>
          </p:cNvPr>
          <p:cNvSpPr txBox="1"/>
          <p:nvPr/>
        </p:nvSpPr>
        <p:spPr>
          <a:xfrm>
            <a:off x="1856401" y="1629120"/>
            <a:ext cx="7920508" cy="1154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입자 크기에 따른 노드 타입 분리</a:t>
            </a:r>
            <a:endParaRPr lang="en-US" altLang="ko-KR" sz="16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기존 </a:t>
            </a:r>
            <a:r>
              <a:rPr lang="en-US" altLang="ko-KR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4</a:t>
            </a:r>
            <a:r>
              <a:rPr lang="ko-KR" altLang="en-US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종류</a:t>
            </a:r>
            <a:r>
              <a:rPr lang="en-US" altLang="ko-KR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ko-KR" altLang="en-US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입자</a:t>
            </a:r>
            <a:r>
              <a:rPr lang="en-US" altLang="ko-KR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sz="16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호퍼</a:t>
            </a:r>
            <a:r>
              <a:rPr lang="en-US" altLang="ko-KR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롤러</a:t>
            </a:r>
            <a:r>
              <a:rPr lang="en-US" altLang="ko-KR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1, </a:t>
            </a:r>
            <a:r>
              <a:rPr lang="ko-KR" altLang="en-US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롤러</a:t>
            </a:r>
            <a:r>
              <a:rPr lang="en-US" altLang="ko-KR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2)</a:t>
            </a:r>
            <a:r>
              <a:rPr lang="ko-KR" altLang="en-US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였던 노드 타입을 </a:t>
            </a:r>
            <a:br>
              <a:rPr lang="en-US" altLang="ko-KR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</a:br>
            <a:r>
              <a:rPr lang="ko-KR" altLang="en-US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입자 크기 구분을 위해 </a:t>
            </a:r>
            <a:r>
              <a:rPr lang="en-US" altLang="ko-KR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6</a:t>
            </a:r>
            <a:r>
              <a:rPr lang="ko-KR" altLang="en-US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종류</a:t>
            </a:r>
            <a:r>
              <a:rPr lang="en-US" altLang="ko-KR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ko-KR" altLang="en-US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입자</a:t>
            </a:r>
            <a:r>
              <a:rPr lang="en-US" altLang="ko-KR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1, </a:t>
            </a:r>
            <a:r>
              <a:rPr lang="ko-KR" altLang="en-US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입자</a:t>
            </a:r>
            <a:r>
              <a:rPr lang="en-US" altLang="ko-KR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2, </a:t>
            </a:r>
            <a:r>
              <a:rPr lang="ko-KR" altLang="en-US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입자</a:t>
            </a:r>
            <a:r>
              <a:rPr lang="en-US" altLang="ko-KR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3, </a:t>
            </a:r>
            <a:r>
              <a:rPr lang="ko-KR" altLang="en-US" sz="16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호퍼</a:t>
            </a:r>
            <a:r>
              <a:rPr lang="en-US" altLang="ko-KR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롤러</a:t>
            </a:r>
            <a:r>
              <a:rPr lang="en-US" altLang="ko-KR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1, </a:t>
            </a:r>
            <a:r>
              <a:rPr lang="ko-KR" altLang="en-US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롤러</a:t>
            </a:r>
            <a:r>
              <a:rPr lang="en-US" altLang="ko-KR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2)</a:t>
            </a:r>
            <a:r>
              <a:rPr lang="ko-KR" altLang="en-US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로 확장</a:t>
            </a: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179F4F5-6668-4D8F-8D4F-5D48A16B6C58}"/>
              </a:ext>
            </a:extLst>
          </p:cNvPr>
          <p:cNvSpPr txBox="1"/>
          <p:nvPr/>
        </p:nvSpPr>
        <p:spPr>
          <a:xfrm>
            <a:off x="2064001" y="180001"/>
            <a:ext cx="38683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Various Particle size</a:t>
            </a:r>
            <a:endParaRPr lang="ko-KR" altLang="en-US" sz="3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349CB0D-A5F1-4D11-82D9-D2887C7CD32A}"/>
              </a:ext>
            </a:extLst>
          </p:cNvPr>
          <p:cNvSpPr/>
          <p:nvPr/>
        </p:nvSpPr>
        <p:spPr>
          <a:xfrm>
            <a:off x="1630436" y="3926515"/>
            <a:ext cx="72000" cy="360000"/>
          </a:xfrm>
          <a:prstGeom prst="rect">
            <a:avLst/>
          </a:prstGeom>
          <a:solidFill>
            <a:srgbClr val="FF572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7E8946-45BE-44B9-874D-F4DE0D0A4D35}"/>
              </a:ext>
            </a:extLst>
          </p:cNvPr>
          <p:cNvSpPr txBox="1"/>
          <p:nvPr/>
        </p:nvSpPr>
        <p:spPr>
          <a:xfrm>
            <a:off x="1524000" y="3512529"/>
            <a:ext cx="56364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0329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□ </a:t>
            </a:r>
            <a:r>
              <a:rPr lang="en-US" altLang="ko-KR" sz="2000" dirty="0">
                <a:solidFill>
                  <a:srgbClr val="0329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Strategy 2 : Using particle radius as a feature</a:t>
            </a:r>
            <a:endParaRPr lang="ko-KR" altLang="en-US" sz="2000" dirty="0">
              <a:solidFill>
                <a:srgbClr val="0329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06AD894-E74A-4EA8-8C64-267631D31083}"/>
              </a:ext>
            </a:extLst>
          </p:cNvPr>
          <p:cNvSpPr txBox="1"/>
          <p:nvPr/>
        </p:nvSpPr>
        <p:spPr>
          <a:xfrm>
            <a:off x="1856401" y="3791954"/>
            <a:ext cx="8132988" cy="1154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반지름 데이터를 직접 노드 특성에 포함</a:t>
            </a:r>
            <a:endParaRPr lang="en-US" altLang="ko-KR" sz="16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Discrete </a:t>
            </a:r>
            <a:r>
              <a:rPr lang="ko-KR" altLang="en-US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되어 있는 데이터가 아닌 입도 분포를 가지는 연속적 데이터에 대해 확장 가능</a:t>
            </a:r>
            <a:endParaRPr lang="en-US" altLang="ko-KR" sz="16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600" dirty="0" err="1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미학습</a:t>
            </a:r>
            <a:r>
              <a:rPr lang="ko-KR" altLang="en-US" sz="1600" dirty="0">
                <a:solidFill>
                  <a:srgbClr val="17445B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데이터에 대한 일반화 성능</a:t>
            </a:r>
            <a:endParaRPr lang="en-US" altLang="ko-KR" sz="1200" dirty="0">
              <a:solidFill>
                <a:srgbClr val="17445B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5251742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83F79A6F-0C5B-465D-88C3-4D0826389CC8}" vid="{A44CB1E6-0AA9-447F-9CC6-E6C08519B8A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50482</TotalTime>
  <Words>2163</Words>
  <Application>Microsoft Office PowerPoint</Application>
  <PresentationFormat>와이드스크린</PresentationFormat>
  <Paragraphs>189</Paragraphs>
  <Slides>8</Slides>
  <Notes>8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맑은 고딕</vt:lpstr>
      <vt:lpstr>Arial</vt:lpstr>
      <vt:lpstr>Cambria Math</vt:lpstr>
      <vt:lpstr>Times New Roman</vt:lpstr>
      <vt:lpstr>Wingdings</vt:lpstr>
      <vt:lpstr>Default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이제홍</dc:creator>
  <cp:lastModifiedBy>이제홍</cp:lastModifiedBy>
  <cp:revision>132</cp:revision>
  <dcterms:created xsi:type="dcterms:W3CDTF">2025-10-14T01:10:30Z</dcterms:created>
  <dcterms:modified xsi:type="dcterms:W3CDTF">2026-03-17T02:06:01Z</dcterms:modified>
</cp:coreProperties>
</file>